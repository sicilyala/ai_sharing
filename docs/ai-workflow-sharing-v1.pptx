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79" r:id="rId3"/>
    <p:sldId id="257" r:id="rId4"/>
    <p:sldId id="258" r:id="rId5"/>
    <p:sldId id="259" r:id="rId6"/>
    <p:sldId id="260" r:id="rId7"/>
    <p:sldId id="261" r:id="rId8"/>
    <p:sldId id="262" r:id="rId9"/>
    <p:sldId id="280" r:id="rId10"/>
    <p:sldId id="263" r:id="rId11"/>
    <p:sldId id="281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297" d="100"/>
          <a:sy n="297" d="100"/>
        </p:scale>
        <p:origin x="70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60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【v1 范围】整体框架 + 版式模板 + 标题。正文均为骨架占位，未新增内容。
待补充：汇报人、单位、场合、日期。
主标题沿用 docx 标题「AI辅助科研工作流分享」。
修订：整篇改为白底（封面、章节页不再使用深色填色）。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0B271E-6608-2B8A-CD3D-0A5CBB41E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F48974-AE35-44C8-F5BD-EC559AFAF9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91B4DA-B13C-856F-F34D-2D65C8EBE7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全篇目录页（对应 docx 的 5 个 H1）。
编号即后续页码前缀：1.x 属于第一章，4.x 属于第四章。
【v2 待办】若最终汇报时间紧张，本页可删除；章节编号已足够导航。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2BAAC1-B427-6599-B3B0-D6AB8ACB0E9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35158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全篇目录页（对应 docx 的 5 个 H1）。
编号即后续页码前缀：1.x 属于第一章，4.x 属于第四章。
【v2 待办】若最终汇报时间紧张，本页可删除；章节编号已足够导航。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层级：H1「AI工具介绍」——本章内容页（章节概览）。
docx 中本章无正文，故列其 H2 小节。
【v2 待办】可补一句本章结论（为什么先讲工具形态），若加需在 docx 中同步。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层级：H1 &gt; H2「三种形态」。
docx 修订（2025-09-25）：本节删掉了「AI Agent = Model + Harness」一行（全文已无 Harness），只保留引导句 + 三种形态，本页据此重排。
卡片内的工具列表取自 docx 的 Web: / CLI: / Desktop APP: 三行原文，未扩写。
【v2 待办】
1. 引导句可改写为 action title（例：「三种形态的差别不在模型，而在 Harness 能做什么」）。
2. 三栏可细化为对比表：能力边界 / 适用场景 / 单次任务粒度 / 是否读写本地文件。
3. 若仍想讲 Model 与 Harness 的分工，需在 docx 中补回该节点。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层级：H1 &gt; H2「介绍 Codex Desktop」（其下 4 个 H3）——本节内容页。
【v2 待办】可加一张 Codex Desktop 界面截图（真实界面图是允许的）。
若不讲全 4 项，删除对应卡片并同步删除后续页。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层级：H1 &gt; H2 &gt; H3「APP connector」。
【v2 待办】建议「配置步骤截图 + 每步一句说明」的流程式排版。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层级：H1 &gt; H2 &gt; H3「Skills and MCP」。docx 中此节无正文，故为纯占位。
【v2 待办】建议拆两页：Skills（如何写、如何调用）与 MCP（连接什么、权限边界），各配一个最小示例。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2B075-1164-291B-84E5-CD2ADA1E6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FBEDA5-D0DF-411C-F23B-0BD3D669AF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307B27-3717-FC81-0070-DF5CF064DE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层级：H1 &gt; H2 &gt; H3「Skills and MCP」。docx 中此节无正文，故为纯占位。
【v2 待办】建议拆两页：Skills（如何写、如何调用）与 MCP（连接什么、权限边界），各配一个最小示例。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950300-043E-3624-D39D-CA5BB44CBE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4239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层级：H1 &gt; H2 &gt; H3「配置文件 config.toml」。docx 中此节无正文，故为纯占位。
【v2 待办】建议贴一份最小可用的 config.toml 片段，关键字段加注释，不逐行讲解。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DD5BB-F4F6-95FF-C41A-617923323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006EDA-AC19-3FE4-2E80-43FD994795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D18ACF-F95E-B315-F848-C11EDA00DB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层级：H1 &gt; H2 &gt; H3「配置文件 config.toml」。docx 中此节无正文，故为纯占位。
【v2 待办】建议贴一份最小可用的 config.toml 片段，关键字段加注释，不逐行讲解。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E4673A-59E6-77E5-E140-6587266D6D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3963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层级：H1 &gt; H2 &gt; H3「上下文Agents.md」。
注意：与 4.3「上下文管理」是两处不同语境，勿合并。
【v2 待办】与 4.3 保持同一套示例，避免观众重复学习。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层级：H1「文献管理」——本章内容页（章节概览）。
【v2 待办】本章可与第 5 章（写作）合并成一节讲，取决于总时长。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层级：H1 &gt; H2「检索论文」。
docx 修订：本节由「用 AI 搜索论文」改名为「检索论文」，并补了一句结论：检索交给专用工具。
【v2 待办】本页那句结论建议直接当作 action title（现标题仍是主题词）；并做真实检索 demo：同一 query 在 Undermind 与普通搜索下的结果差异（左右对照截图）。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层级：H1 &gt; H2「Zotero 管理文献」。
【v2 待办】「连接配置 → 可做什么 → 权限与安全边界」三段式；与 1.2.1 APP connector 互相引用。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层级：H1「找 idea」——无子节点，本章内容页即正文页。
【v2 待办】建议放一段真实对话记录（脱敏截图）+ 一句「AI 提出过什么好问题」。
ARS 首次出现需给全称并定义。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层级：H1「AI编程」——本章内容页（章节概览，7 个 H2）。
本页 7 项已在 docx 中存在；若最终只讲 5 项，删除对应行与后续页。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层级：H1 &gt; H2「项目管理」。
【v2 待办】「初始化到提交」的一条命令流示例；pyproject.toml 只讲 AI 需要读懂的字段。
若时间紧张，本页与 4.2「文件结构」可合并。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层级：H1 &gt; H2「文件结构」。docx 中此节无正文，故为纯占位。
【v2 待办】建议给一棵目录树（tree 输出），标注 AI 该读哪些、不该读哪些。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层级：H1 &gt; H2「上下文管理」。
【v2 待办】「Agents.md 最小骨架（5 行）」+「渐进式披露：什么放主文件、什么放子文件」两张对照。
与 1.2.4 共用一套示例。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层级：H1 &gt; H2「代码规范」。
【v2 待办】一页一主题，或一张工具链图：commit 时 pre-commit → ruff → mypy → pytest 的触发顺序。
INIT.sh 建议给出实际内容与用途（新仓库一键初始化）。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层级：H1 &gt; H2「怎么写 prompt」。
docx 中该 H2 下只有一句，与标题不完全对齐——需确认是「prompt 写法」还是「Desktop 与 Web 联动」。
【v2 待办】若是 prompt 写法：给「差 prompt → 好 prompt」对照。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层级：H1 &gt; H2「编程 Skill」。
【v2 待办】每个命令一行「怎么用 + 什么时候用」；建议加一次 /plan 的真实输出截图。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层级：H1 &gt; H2「多任务并行开发」。
【v2 待办】示意图：1 个仓库 → N 个 worktree → N 个 AI 会话并行；标注冲突如何避免。
worktree 同步工具需给出名称与使用场景。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层级：H1「写作与绘图」——无子节点，本章内容页即正文页。
docx 原文：「介绍 skills 为主，Humanizer, Grammar Check Guide, Nature Figure, etc.」
【v2 待办】每个 skill 配一张「输入 → 输出」前后对照图；Nature Figure 给一张成品图。
【框架提醒】本页是最后一页。按 academic-pptx-skill 规范，正式版应在正文末尾增加一页「结论」并停留于 Q&amp;A 阶段（v1 未加，以免超出给定结构）。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致谢页（按大将军指令新增）——全篇收尾。
待补充：联系方式、二维码或幻灯片/预印本链接。
【规范提醒】academic-pptx-skill 主张「以结论页收尾、不用 Thank You 结束」；若采纳，建议在本页之前先加一页「结论」，本页仅作最后一屏。
本页不加面包屑与页码（与封面同为版式书挡）。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icilyala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mbad0202/academic-research-skills-codex/tree/main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Rimagination/good-question" TargetMode="Externa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uv.oaix.tech/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attpocock/skills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lader/humanizer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Yuan1z0825/nature-skills" TargetMode="Externa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41732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AI辅助科研工作流分享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2514600"/>
            <a:ext cx="1828800" cy="4572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282916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　·　</a:t>
            </a:r>
            <a:r>
              <a:rPr lang="en-US" sz="2000" dirty="0" err="1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陈伟琪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3463773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altLang="zh-CN" sz="16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</a:t>
            </a:r>
            <a:r>
              <a:rPr lang="zh-CN" altLang="en-US" sz="16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</a:t>
            </a:r>
            <a:r>
              <a:rPr lang="en-US" altLang="zh-CN" sz="16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r>
              <a:rPr lang="zh-CN" altLang="en-US" sz="16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</a:t>
            </a:r>
            <a:r>
              <a:rPr lang="en-US" altLang="zh-CN" sz="16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r>
              <a:rPr lang="zh-CN" altLang="en-US" sz="16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8977C-E6BA-2987-B425-2A3F61736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FE1EF20-6EA8-3C52-2434-32BECFCBDF9D}"/>
              </a:ext>
            </a:extLst>
          </p:cNvPr>
          <p:cNvSpPr/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 err="1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自我介绍</a:t>
            </a:r>
            <a:endParaRPr lang="en-US" sz="30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B8D76ED-8C36-8B17-BE84-C2B318D93402}"/>
              </a:ext>
            </a:extLst>
          </p:cNvPr>
          <p:cNvSpPr/>
          <p:nvPr/>
        </p:nvSpPr>
        <p:spPr>
          <a:xfrm>
            <a:off x="457200" y="1572768"/>
            <a:ext cx="8229600" cy="3035808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0D1EE98-4B7B-8412-0C04-8838CC9B1AC1}"/>
              </a:ext>
            </a:extLst>
          </p:cNvPr>
          <p:cNvSpPr/>
          <p:nvPr/>
        </p:nvSpPr>
        <p:spPr>
          <a:xfrm>
            <a:off x="822960" y="1874520"/>
            <a:ext cx="7252094" cy="2384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000" dirty="0" err="1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硕士就读于东南大学交通学院</a:t>
            </a:r>
            <a:r>
              <a:rPr lang="zh-CN" altLang="en-US" sz="20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</a:t>
            </a:r>
            <a:r>
              <a:rPr lang="en-US" altLang="zh-CN" sz="20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2021-2024</a:t>
            </a:r>
            <a:r>
              <a:rPr lang="zh-CN" altLang="en-US" sz="20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），期间主要研究新能源汽车生态驾驶、深度强化学习，论文源码开源地址</a:t>
            </a:r>
            <a:r>
              <a:rPr lang="en-GB" altLang="zh-CN" sz="20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3"/>
              </a:rPr>
              <a:t>https://github.com/sicilyala</a:t>
            </a:r>
            <a:r>
              <a:rPr lang="zh-CN" altLang="en-US" sz="20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endParaRPr lang="en-US" altLang="zh-CN" sz="2000" dirty="0">
              <a:solidFill>
                <a:srgbClr val="2D2D2D"/>
              </a:solidFill>
              <a:latin typeface="Microsoft YaHei" pitchFamily="34" charset="0"/>
              <a:ea typeface="Microsoft YaHei" pitchFamily="34" charset="-122"/>
              <a:cs typeface="Microsoft YaHei" pitchFamily="34" charset="-120"/>
            </a:endParaRP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zh-CN" altLang="en-US" sz="20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</a:rPr>
              <a:t>现为香港理工大学在读博士生，主要研究方向包括交通安全、人车交互</a:t>
            </a:r>
            <a:endParaRPr lang="en-US" sz="20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5A8B914E-B17E-0097-C94E-2DE83B5C551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374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572768"/>
            <a:ext cx="8229600" cy="3035808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22960" y="18745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</a:t>
            </a:r>
            <a:r>
              <a:rPr lang="en-US" sz="20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</a:t>
            </a:r>
            <a:r>
              <a:rPr lang="zh-CN" altLang="en-US" sz="20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2000" dirty="0" err="1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工具介绍</a:t>
            </a:r>
            <a:r>
              <a:rPr lang="en-US" altLang="zh-CN" sz="20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r>
              <a:rPr lang="zh-CN" altLang="en-US" sz="20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</a:t>
            </a:r>
            <a:r>
              <a:rPr lang="en-US" altLang="zh-CN" sz="20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Codex</a:t>
            </a:r>
            <a:r>
              <a:rPr lang="zh-CN" altLang="en-US" sz="20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为例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2441448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</a:t>
            </a:r>
            <a:r>
              <a:rPr lang="en-US" sz="20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文献管理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3008376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</a:t>
            </a:r>
            <a:r>
              <a:rPr lang="en-US" sz="20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 idea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3575304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</a:t>
            </a:r>
            <a:r>
              <a:rPr lang="en-US" sz="20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</a:t>
            </a:r>
            <a:r>
              <a:rPr lang="zh-CN" altLang="en-US" sz="20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2000" dirty="0" err="1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编程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22960" y="414223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</a:t>
            </a:r>
            <a:r>
              <a:rPr lang="en-US" sz="20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写作与绘图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AI工具介绍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288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文献管理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找 idea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AI编程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写作与绘图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AI</a:t>
            </a:r>
            <a:r>
              <a:rPr lang="zh-CN" altLang="en-US" sz="30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3000" b="1" dirty="0" err="1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工具介绍</a:t>
            </a:r>
            <a:r>
              <a:rPr lang="en-US" altLang="zh-CN" sz="30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r>
              <a:rPr lang="zh-CN" altLang="en-US" sz="30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</a:t>
            </a:r>
            <a:r>
              <a:rPr lang="en-US" altLang="zh-CN" sz="30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Codex</a:t>
            </a:r>
            <a:r>
              <a:rPr lang="zh-CN" altLang="en-US" sz="30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为例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457200" y="1572768"/>
            <a:ext cx="8229600" cy="3035808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22960" y="18745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 </a:t>
            </a:r>
            <a:r>
              <a:rPr lang="en-US" sz="20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三种形态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22960" y="2441448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1.2. </a:t>
            </a:r>
            <a:r>
              <a:rPr lang="en-US" sz="20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介绍 Codex Desktop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AI工具介绍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288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文献管理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找 idea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AI编程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写作与绘图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 三种形态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37075" y="1033271"/>
            <a:ext cx="8229600" cy="808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dirty="0"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</a:t>
            </a:r>
            <a:r>
              <a:rPr lang="zh-CN" altLang="en-US" sz="1600" dirty="0"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：日常对话、问答</a:t>
            </a:r>
            <a:endParaRPr lang="en-US" altLang="zh-CN" sz="1600" dirty="0">
              <a:latin typeface="Microsoft YaHei" pitchFamily="34" charset="0"/>
              <a:ea typeface="Microsoft YaHei" pitchFamily="34" charset="-122"/>
              <a:cs typeface="Microsoft YaHei" pitchFamily="34" charset="-120"/>
            </a:endParaRP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dirty="0" err="1"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CLI、Desktop</a:t>
            </a:r>
            <a:r>
              <a:rPr lang="en-US" sz="1600" dirty="0"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APP</a:t>
            </a:r>
            <a:r>
              <a:rPr lang="zh-CN" altLang="en-US" sz="1600" dirty="0"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：综合开发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2560320" cy="2651760"/>
          </a:xfrm>
          <a:prstGeom prst="roundRect">
            <a:avLst>
              <a:gd name="adj" fmla="val 1786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85800" y="21488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" y="2606040"/>
            <a:ext cx="219456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 algn="l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ChatGPT</a:t>
            </a:r>
            <a:endParaRPr lang="en-US" sz="1600" dirty="0"/>
          </a:p>
          <a:p>
            <a:pPr marL="152400" indent="-152400" algn="l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DeepSeek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291840" y="1965960"/>
            <a:ext cx="2560320" cy="2651760"/>
          </a:xfrm>
          <a:prstGeom prst="roundRect">
            <a:avLst>
              <a:gd name="adj" fmla="val 1786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520440" y="21488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CLI</a:t>
            </a:r>
            <a:r>
              <a:rPr lang="zh-CN" altLang="en-US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altLang="zh-CN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/</a:t>
            </a:r>
            <a:r>
              <a:rPr lang="zh-CN" altLang="en-US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altLang="zh-CN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TUI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474720" y="2606040"/>
            <a:ext cx="219456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 algn="l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Codex CLI</a:t>
            </a:r>
            <a:endParaRPr lang="en-US" sz="1600" dirty="0"/>
          </a:p>
          <a:p>
            <a:pPr marL="152400" indent="-152400" algn="l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Claude Code CLI</a:t>
            </a:r>
            <a:endParaRPr lang="en-US" sz="1600" dirty="0"/>
          </a:p>
          <a:p>
            <a:pPr marL="152400" indent="-152400" algn="l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</a:t>
            </a:r>
            <a:endParaRPr lang="en-US" sz="1600" dirty="0"/>
          </a:p>
          <a:p>
            <a:pPr marL="152400" indent="-152400" algn="l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ZCode</a:t>
            </a:r>
            <a:endParaRPr lang="en-US" sz="1600" dirty="0"/>
          </a:p>
          <a:p>
            <a:pPr marL="152400" indent="-152400" algn="l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Kimi Code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126480" y="1965960"/>
            <a:ext cx="2560320" cy="2651760"/>
          </a:xfrm>
          <a:prstGeom prst="roundRect">
            <a:avLst>
              <a:gd name="adj" fmla="val 1786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355080" y="21488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Desktop APP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309360" y="2606040"/>
            <a:ext cx="219456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 algn="l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Codex</a:t>
            </a:r>
            <a:r>
              <a:rPr lang="en-US" altLang="zh-CN" sz="16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/ChatGPT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AI工具介绍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288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文献管理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找 idea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AI编程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写作与绘图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1.2. 介绍 Codex Desktop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457200" y="1572768"/>
            <a:ext cx="8229600" cy="3035808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22960" y="18745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1.2.1. </a:t>
            </a:r>
            <a:r>
              <a:rPr lang="en-US" sz="20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 connector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22960" y="2441448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1.2.2. </a:t>
            </a:r>
            <a:r>
              <a:rPr lang="en-US" sz="20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Skills and MCP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22960" y="3008376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1.2.3. </a:t>
            </a:r>
            <a:r>
              <a:rPr lang="en-US" sz="20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配置文件 config.toml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" y="3575304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1.2.4. </a:t>
            </a:r>
            <a:r>
              <a:rPr lang="en-US" sz="2000" dirty="0" err="1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上下文A</a:t>
            </a:r>
            <a:r>
              <a:rPr lang="en-US" altLang="zh-CN" sz="2000" dirty="0" err="1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GENTS</a:t>
            </a:r>
            <a:r>
              <a:rPr lang="en-US" sz="2000" dirty="0" err="1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.md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AI工具介绍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288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文献管理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找 idea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AI编程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写作与绘图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1.2.1. APP connector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457200" y="1572768"/>
            <a:ext cx="8229600" cy="3035808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828800"/>
            <a:ext cx="75895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en-US" sz="2000" dirty="0" err="1"/>
              <a:t>内嵌在</a:t>
            </a:r>
            <a:r>
              <a:rPr lang="zh-CN" altLang="en-US" sz="2000" dirty="0"/>
              <a:t> </a:t>
            </a:r>
            <a:r>
              <a:rPr lang="en-US" altLang="zh-CN" sz="2000" dirty="0"/>
              <a:t>Codex</a:t>
            </a:r>
            <a:r>
              <a:rPr lang="zh-CN" altLang="en-US" sz="2000" dirty="0"/>
              <a:t> 里面的工具插件</a:t>
            </a:r>
            <a:endParaRPr lang="en-US" altLang="zh-CN" sz="2000" dirty="0"/>
          </a:p>
          <a:p>
            <a:pPr marL="190500" indent="-190500">
              <a:spcAft>
                <a:spcPts val="1400"/>
              </a:spcAft>
              <a:buSzPct val="100000"/>
              <a:buFontTx/>
              <a:buChar char="•"/>
            </a:pPr>
            <a:r>
              <a:rPr lang="zh-CN" altLang="en-US" sz="2000" dirty="0"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支持自动或手动调用</a:t>
            </a:r>
            <a:endParaRPr lang="en-US" altLang="zh-CN" sz="2000" dirty="0">
              <a:latin typeface="Microsoft YaHei" pitchFamily="34" charset="0"/>
              <a:ea typeface="Microsoft YaHei" pitchFamily="34" charset="-122"/>
              <a:cs typeface="Microsoft YaHei" pitchFamily="34" charset="-120"/>
            </a:endParaRPr>
          </a:p>
          <a:p>
            <a:pPr marL="190500" indent="-190500">
              <a:spcAft>
                <a:spcPts val="1400"/>
              </a:spcAft>
              <a:buSzPct val="100000"/>
              <a:buFontTx/>
              <a:buChar char="•"/>
            </a:pPr>
            <a:r>
              <a:rPr lang="en-US" altLang="zh-CN" sz="2000" dirty="0" err="1"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Zotero、GitHub、Undermind</a:t>
            </a:r>
            <a:endParaRPr lang="en-US" altLang="zh-CN" sz="2000" dirty="0">
              <a:latin typeface="Microsoft YaHei" pitchFamily="34" charset="0"/>
              <a:ea typeface="Microsoft YaHei" pitchFamily="34" charset="-122"/>
              <a:cs typeface="Microsoft YaHei" pitchFamily="34" charset="-120"/>
            </a:endParaRPr>
          </a:p>
          <a:p>
            <a:pPr marL="190500" indent="-190500">
              <a:spcAft>
                <a:spcPts val="1400"/>
              </a:spcAft>
              <a:buSzPct val="100000"/>
              <a:buFontTx/>
              <a:buChar char="•"/>
            </a:pPr>
            <a:r>
              <a:rPr lang="en-US" altLang="zh-CN" sz="2000" dirty="0"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Documents</a:t>
            </a:r>
            <a:r>
              <a:rPr lang="zh-CN" altLang="en-US" sz="2000" dirty="0"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altLang="zh-CN" sz="2000" dirty="0"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PDF</a:t>
            </a:r>
          </a:p>
          <a:p>
            <a:pPr marL="190500" indent="-190500">
              <a:spcAft>
                <a:spcPts val="1400"/>
              </a:spcAft>
              <a:buSzPct val="100000"/>
              <a:buFontTx/>
              <a:buChar char="•"/>
            </a:pPr>
            <a:r>
              <a:rPr lang="en-US" altLang="zh-CN" sz="2000" dirty="0"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Spreadsheets</a:t>
            </a:r>
            <a:r>
              <a:rPr lang="zh-CN" altLang="en-US" sz="2000" dirty="0"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altLang="zh-CN" sz="2000" dirty="0"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Presentations</a:t>
            </a:r>
            <a:r>
              <a:rPr lang="zh-CN" altLang="en-US" sz="2000" dirty="0"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endParaRPr lang="en-US" altLang="zh-CN" sz="2000" dirty="0">
              <a:latin typeface="Microsoft YaHei" pitchFamily="34" charset="0"/>
              <a:ea typeface="Microsoft YaHei" pitchFamily="34" charset="-122"/>
              <a:cs typeface="Microsoft YaHei" pitchFamily="34" charset="-120"/>
            </a:endParaRPr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868F05BC-9880-147A-EC76-B80CC57D7F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2608" y="2042335"/>
            <a:ext cx="3632808" cy="209667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AI工具介绍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288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文献管理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找 idea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AI编程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写作与绘图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1.2.2. Skills and MCP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457200" y="1572768"/>
            <a:ext cx="8229600" cy="3035808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828799"/>
            <a:ext cx="7589520" cy="27045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Skill: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 一个目录，其中必须有 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`</a:t>
            </a:r>
            <a:r>
              <a:rPr lang="en-GB" altLang="zh-CN" sz="2000" dirty="0" err="1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SKILL.md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`</a:t>
            </a:r>
            <a:r>
              <a:rPr lang="en-GB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 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文件，还可以包含代码脚本和参考资料。 </a:t>
            </a:r>
            <a:endParaRPr lang="en-US" altLang="zh-CN" sz="2000" dirty="0">
              <a:solidFill>
                <a:srgbClr val="000000"/>
              </a:solidFill>
              <a:latin typeface="Microsoft YaHei" pitchFamily="34" charset="0"/>
              <a:ea typeface="Microsoft YaHei" pitchFamily="34" charset="-122"/>
            </a:endParaRPr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Skill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 是工作说明书、可复用的工作流</a:t>
            </a:r>
            <a:endParaRPr lang="en-US" altLang="zh-CN" sz="2000" dirty="0">
              <a:solidFill>
                <a:srgbClr val="000000"/>
              </a:solidFill>
              <a:latin typeface="Microsoft YaHei" pitchFamily="34" charset="0"/>
              <a:ea typeface="Microsoft YaHei" pitchFamily="34" charset="-122"/>
            </a:endParaRPr>
          </a:p>
          <a:p>
            <a:pPr marL="190500" indent="-190500">
              <a:spcAft>
                <a:spcPts val="1400"/>
              </a:spcAft>
              <a:buSzPct val="100000"/>
              <a:buFontTx/>
              <a:buChar char="•"/>
            </a:pP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User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 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level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 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skill: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 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`~/.codex/skills`</a:t>
            </a:r>
            <a:endParaRPr lang="zh-CN" altLang="zh-CN" dirty="0"/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Project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 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level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 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skill: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 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`/path/to/project/.codex/skills`</a:t>
            </a:r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lang="en-US" sz="2000" dirty="0" err="1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使用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‘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skill-installer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’安装 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skill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 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AD0E1-21D8-6B8C-80FE-FF805D41A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5577DB8-C638-7FD1-FC0B-35EF0BD51C0C}"/>
              </a:ext>
            </a:extLst>
          </p:cNvPr>
          <p:cNvSpPr/>
          <p:nvPr/>
        </p:nvSpPr>
        <p:spPr>
          <a:xfrm>
            <a:off x="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AI工具介绍</a:t>
            </a:r>
            <a:endParaRPr lang="en-US" sz="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50FFA40-187D-238A-6369-B6EA0ECC0F7E}"/>
              </a:ext>
            </a:extLst>
          </p:cNvPr>
          <p:cNvSpPr/>
          <p:nvPr/>
        </p:nvSpPr>
        <p:spPr>
          <a:xfrm>
            <a:off x="18288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文献管理</a:t>
            </a:r>
            <a:endParaRPr lang="en-US" sz="1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065FBEA-A34D-4106-4497-4D7352314C9F}"/>
              </a:ext>
            </a:extLst>
          </p:cNvPr>
          <p:cNvSpPr/>
          <p:nvPr/>
        </p:nvSpPr>
        <p:spPr>
          <a:xfrm>
            <a:off x="36576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找 idea</a:t>
            </a:r>
            <a:endParaRPr lang="en-US" sz="1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C41BE80-A04F-7602-7550-CD9BDF758CDE}"/>
              </a:ext>
            </a:extLst>
          </p:cNvPr>
          <p:cNvSpPr/>
          <p:nvPr/>
        </p:nvSpPr>
        <p:spPr>
          <a:xfrm>
            <a:off x="54864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AI编程</a:t>
            </a:r>
            <a:endParaRPr lang="en-US" sz="10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19FA197-F9F4-C110-F832-E0366D5ED545}"/>
              </a:ext>
            </a:extLst>
          </p:cNvPr>
          <p:cNvSpPr/>
          <p:nvPr/>
        </p:nvSpPr>
        <p:spPr>
          <a:xfrm>
            <a:off x="73152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写作与绘图</a:t>
            </a:r>
            <a:endParaRPr lang="en-US" sz="10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E03D7A2-69E1-A297-BA14-F28764A0104F}"/>
              </a:ext>
            </a:extLst>
          </p:cNvPr>
          <p:cNvSpPr/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1.2.2. Skills and MCP</a:t>
            </a:r>
            <a:endParaRPr lang="en-US" sz="26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7CFF51FA-AD36-1AF3-3AF6-5A7B31848829}"/>
              </a:ext>
            </a:extLst>
          </p:cNvPr>
          <p:cNvSpPr/>
          <p:nvPr/>
        </p:nvSpPr>
        <p:spPr>
          <a:xfrm>
            <a:off x="457200" y="1572768"/>
            <a:ext cx="8229600" cy="3035808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D2501972-6856-D5D6-6C84-5650AF06D51E}"/>
              </a:ext>
            </a:extLst>
          </p:cNvPr>
          <p:cNvSpPr/>
          <p:nvPr/>
        </p:nvSpPr>
        <p:spPr>
          <a:xfrm>
            <a:off x="777240" y="1828799"/>
            <a:ext cx="7589520" cy="27045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MCP: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 一种外接工具的协议，比如网络搜索工具</a:t>
            </a:r>
            <a:endParaRPr lang="en-US" altLang="zh-CN" sz="2000" dirty="0">
              <a:solidFill>
                <a:srgbClr val="000000"/>
              </a:solidFill>
              <a:latin typeface="Microsoft YaHei" pitchFamily="34" charset="0"/>
              <a:ea typeface="Microsoft YaHei" pitchFamily="34" charset="-122"/>
            </a:endParaRPr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Context7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 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(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查询版本匹配的软件 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API 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文档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)</a:t>
            </a:r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Playwright: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 操作浏览器、前端开发测试</a:t>
            </a:r>
            <a:endParaRPr lang="en-US" sz="20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923E8685-3A9F-FD1A-9A71-540987F5B47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1695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AI工具介绍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288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文献管理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找 idea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AI编程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写作与绘图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1.2.3. 配置文件 config.toml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457200" y="1572768"/>
            <a:ext cx="8229600" cy="3035808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828800"/>
            <a:ext cx="75895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管理模型、审批、沙箱、</a:t>
            </a:r>
            <a:r>
              <a:rPr 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MCP、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功能开关这些工具行为</a:t>
            </a:r>
            <a:endParaRPr lang="en-US" altLang="zh-CN" sz="2000" dirty="0">
              <a:solidFill>
                <a:srgbClr val="000000"/>
              </a:solidFill>
              <a:latin typeface="Microsoft YaHei" pitchFamily="34" charset="0"/>
              <a:ea typeface="Microsoft YaHei" pitchFamily="34" charset="-122"/>
              <a:cs typeface="Microsoft YaHei" pitchFamily="34" charset="-120"/>
            </a:endParaRPr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User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 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level: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 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`~/.codex/</a:t>
            </a:r>
            <a:r>
              <a:rPr lang="en-US" altLang="zh-CN" sz="2000" dirty="0" err="1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config.toml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`</a:t>
            </a:r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Project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 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level: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 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` /path/to/project/.codex/</a:t>
            </a:r>
            <a:r>
              <a:rPr lang="en-US" altLang="zh-CN" sz="2000" dirty="0" err="1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config.toml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`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28C243-C7B5-E2DA-1348-D63D650AC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9CBB5B3-FC9C-0F22-1DA1-1B5238718570}"/>
              </a:ext>
            </a:extLst>
          </p:cNvPr>
          <p:cNvSpPr/>
          <p:nvPr/>
        </p:nvSpPr>
        <p:spPr>
          <a:xfrm>
            <a:off x="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AI工具介绍</a:t>
            </a:r>
            <a:endParaRPr lang="en-US" sz="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B6E21FE-1380-62B0-140F-1DE0AEC899BF}"/>
              </a:ext>
            </a:extLst>
          </p:cNvPr>
          <p:cNvSpPr/>
          <p:nvPr/>
        </p:nvSpPr>
        <p:spPr>
          <a:xfrm>
            <a:off x="18288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文献管理</a:t>
            </a:r>
            <a:endParaRPr lang="en-US" sz="1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97FA198-8AA3-F581-72F3-82353E827319}"/>
              </a:ext>
            </a:extLst>
          </p:cNvPr>
          <p:cNvSpPr/>
          <p:nvPr/>
        </p:nvSpPr>
        <p:spPr>
          <a:xfrm>
            <a:off x="36576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找 idea</a:t>
            </a:r>
            <a:endParaRPr lang="en-US" sz="1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7B85043-22D7-412B-832B-D4C6DCCC40DB}"/>
              </a:ext>
            </a:extLst>
          </p:cNvPr>
          <p:cNvSpPr/>
          <p:nvPr/>
        </p:nvSpPr>
        <p:spPr>
          <a:xfrm>
            <a:off x="54864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AI编程</a:t>
            </a:r>
            <a:endParaRPr lang="en-US" sz="10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4F2DB25-BA47-DB8A-74FD-4677D485F403}"/>
              </a:ext>
            </a:extLst>
          </p:cNvPr>
          <p:cNvSpPr/>
          <p:nvPr/>
        </p:nvSpPr>
        <p:spPr>
          <a:xfrm>
            <a:off x="73152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写作与绘图</a:t>
            </a:r>
            <a:endParaRPr lang="en-US" sz="10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5583C2D-E78D-55A5-A641-E80B5D0FE67C}"/>
              </a:ext>
            </a:extLst>
          </p:cNvPr>
          <p:cNvSpPr/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1.2.3. 配置文件 config.toml</a:t>
            </a:r>
            <a:endParaRPr lang="en-US" sz="26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31224163-3B82-803F-1243-0A37BCB50830}"/>
              </a:ext>
            </a:extLst>
          </p:cNvPr>
          <p:cNvSpPr/>
          <p:nvPr/>
        </p:nvSpPr>
        <p:spPr>
          <a:xfrm>
            <a:off x="457200" y="1572768"/>
            <a:ext cx="8229600" cy="3035808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6A792D5B-CA24-6559-0DC5-1F4DB1F74F02}"/>
              </a:ext>
            </a:extLst>
          </p:cNvPr>
          <p:cNvSpPr/>
          <p:nvPr/>
        </p:nvSpPr>
        <p:spPr>
          <a:xfrm>
            <a:off x="777240" y="1828800"/>
            <a:ext cx="75895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en-US" sz="2000" dirty="0" err="1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常用系统级配置项</a:t>
            </a:r>
            <a:endParaRPr lang="en-US" sz="2000" dirty="0">
              <a:solidFill>
                <a:srgbClr val="000000"/>
              </a:solidFill>
              <a:latin typeface="Microsoft YaHei" pitchFamily="34" charset="0"/>
              <a:ea typeface="Microsoft YaHei" pitchFamily="34" charset="-122"/>
            </a:endParaRPr>
          </a:p>
          <a:p>
            <a:pPr algn="l">
              <a:spcAft>
                <a:spcPts val="1400"/>
              </a:spcAft>
              <a:buSzPct val="100000"/>
            </a:pPr>
            <a:endParaRPr lang="en-US" sz="20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880CDAC1-5833-8273-5091-93D239B0EFC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A89A4A6C-4F5B-0E77-0DDC-83CF13E597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7482" y="1622381"/>
            <a:ext cx="3677718" cy="2936581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1C4DACAB-7BEC-005E-2130-1E63953CD7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502" y="2881356"/>
            <a:ext cx="1704794" cy="729494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7E396EBE-77FD-4C0C-80CC-B0CB763241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502" y="4009950"/>
            <a:ext cx="2894970" cy="424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3465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AI工具介绍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288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文献管理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找 idea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AI编程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写作与绘图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1.2.4. </a:t>
            </a:r>
            <a:r>
              <a:rPr lang="en-US" sz="2600" b="1" dirty="0" err="1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上下文</a:t>
            </a:r>
            <a:r>
              <a:rPr lang="zh-CN" altLang="en-US" sz="26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2600" b="1" dirty="0" err="1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r>
              <a:rPr lang="en-US" altLang="zh-CN" sz="2600" b="1" dirty="0" err="1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GENTS</a:t>
            </a:r>
            <a:r>
              <a:rPr lang="en-US" sz="2600" b="1" dirty="0" err="1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.md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457200" y="1572767"/>
            <a:ext cx="8229600" cy="3235345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828800"/>
            <a:ext cx="7589520" cy="28762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en-US" sz="2000" dirty="0" err="1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管理上下文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Codex 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在每轮执行前都会读取 </a:t>
            </a:r>
            <a:r>
              <a:rPr lang="en-US" altLang="zh-CN" sz="2000" dirty="0" err="1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AGENTS.md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文件</a:t>
            </a:r>
            <a:endParaRPr lang="en-US" altLang="zh-CN" sz="2000" dirty="0">
              <a:solidFill>
                <a:srgbClr val="000000"/>
              </a:solidFill>
              <a:latin typeface="Microsoft YaHei" pitchFamily="34" charset="0"/>
              <a:ea typeface="Microsoft YaHei" pitchFamily="34" charset="-122"/>
              <a:cs typeface="Microsoft YaHei" pitchFamily="34" charset="-120"/>
            </a:endParaRPr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User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 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level: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 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`~/.codex/</a:t>
            </a:r>
            <a:r>
              <a:rPr lang="en-US" altLang="zh-CN" sz="2000" dirty="0" err="1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AGENTS.md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`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 </a:t>
            </a:r>
            <a:endParaRPr lang="en-US" altLang="zh-CN" sz="2000" dirty="0">
              <a:solidFill>
                <a:srgbClr val="000000"/>
              </a:solidFill>
              <a:latin typeface="Microsoft YaHei" pitchFamily="34" charset="0"/>
              <a:ea typeface="Microsoft YaHei" pitchFamily="34" charset="-122"/>
            </a:endParaRPr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Project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 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level: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 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`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 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/path/to/project/</a:t>
            </a:r>
            <a:r>
              <a:rPr lang="en-US" altLang="zh-CN" sz="2000" dirty="0" err="1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AGENTS.md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`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 </a:t>
            </a:r>
            <a:endParaRPr lang="en-US" altLang="zh-CN" sz="2000" dirty="0">
              <a:solidFill>
                <a:srgbClr val="000000"/>
              </a:solidFill>
              <a:latin typeface="Microsoft YaHei" pitchFamily="34" charset="0"/>
              <a:ea typeface="Microsoft YaHei" pitchFamily="34" charset="-122"/>
            </a:endParaRPr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User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 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level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 </a:t>
            </a:r>
            <a:r>
              <a:rPr lang="en-US" altLang="zh-CN" sz="2000" dirty="0" err="1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AGENTS.md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 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example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 </a:t>
            </a:r>
            <a:endParaRPr lang="en-US" altLang="zh-CN" sz="2000" dirty="0">
              <a:solidFill>
                <a:srgbClr val="000000"/>
              </a:solidFill>
              <a:latin typeface="Microsoft YaHei" pitchFamily="34" charset="0"/>
              <a:ea typeface="Microsoft YaHei" pitchFamily="34" charset="-122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AI工具介绍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288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文献管理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找 idea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AI编程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写作与绘图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文献管理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457200" y="1572768"/>
            <a:ext cx="8229600" cy="3035808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22960" y="18745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2.1. </a:t>
            </a:r>
            <a:r>
              <a:rPr lang="en-US" sz="20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检索论文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22960" y="2441448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2.2. </a:t>
            </a:r>
            <a:r>
              <a:rPr lang="en-US" sz="20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Zotero 管理文献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AI工具介绍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288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文献管理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找 idea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AI编程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写作与绘图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2.1. 检索论文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457200" y="1572768"/>
            <a:ext cx="8229600" cy="3035808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828800"/>
            <a:ext cx="75895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Codex/ChatGPT </a:t>
            </a:r>
            <a:r>
              <a:rPr lang="en-US" sz="2000" dirty="0" err="1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不能作为检索文献的主力工具</a:t>
            </a:r>
            <a:r>
              <a:rPr 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en-US" sz="2000" dirty="0" err="1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推荐方式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endParaRPr lang="en-US" altLang="zh-CN" sz="2000" dirty="0">
              <a:solidFill>
                <a:srgbClr val="000000"/>
              </a:solidFill>
              <a:latin typeface="Microsoft YaHei" pitchFamily="34" charset="0"/>
              <a:ea typeface="Microsoft YaHei" pitchFamily="34" charset="-122"/>
              <a:cs typeface="Microsoft YaHei" pitchFamily="34" charset="-120"/>
            </a:endParaRPr>
          </a:p>
          <a:p>
            <a:pPr marL="647700" lvl="1" indent="-190500">
              <a:spcAft>
                <a:spcPts val="1400"/>
              </a:spcAft>
              <a:buSzPct val="100000"/>
              <a:buChar char="•"/>
            </a:pPr>
            <a:r>
              <a:rPr lang="en-US" sz="2000" dirty="0" err="1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手动搜索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、筛选论文</a:t>
            </a:r>
            <a:endParaRPr lang="en-US" altLang="zh-CN" sz="2000" dirty="0">
              <a:solidFill>
                <a:srgbClr val="000000"/>
              </a:solidFill>
              <a:latin typeface="Microsoft YaHei" pitchFamily="34" charset="0"/>
              <a:ea typeface="Microsoft YaHei" pitchFamily="34" charset="-122"/>
              <a:cs typeface="Microsoft YaHei" pitchFamily="34" charset="-120"/>
            </a:endParaRPr>
          </a:p>
          <a:p>
            <a:pPr marL="647700" lvl="1" indent="-190500">
              <a:spcAft>
                <a:spcPts val="1400"/>
              </a:spcAft>
              <a:buSzPct val="100000"/>
              <a:buChar char="•"/>
            </a:pP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给定主题，交给</a:t>
            </a:r>
            <a:r>
              <a:rPr lang="en-US" sz="2000" dirty="0" err="1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专用搜索工具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</a:t>
            </a:r>
            <a:r>
              <a:rPr lang="en-US" sz="2000" dirty="0" err="1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undermind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）查找相关论文 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AI工具介绍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288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文献管理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找 idea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AI编程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写作与绘图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2.2. Zotero 管理文献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457200" y="1572768"/>
            <a:ext cx="8229600" cy="3035808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828800"/>
            <a:ext cx="75895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Codex </a:t>
            </a:r>
            <a:r>
              <a:rPr lang="en-US" sz="2000" dirty="0" err="1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连接</a:t>
            </a:r>
            <a:r>
              <a:rPr 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Zotero</a:t>
            </a:r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en-US" sz="2000" dirty="0" err="1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在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 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Zotero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 建立 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collection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 整理论文</a:t>
            </a:r>
            <a:endParaRPr lang="en-US" altLang="zh-CN" sz="2000" dirty="0">
              <a:solidFill>
                <a:srgbClr val="000000"/>
              </a:solidFill>
              <a:latin typeface="Microsoft YaHei" pitchFamily="34" charset="0"/>
              <a:ea typeface="Microsoft YaHei" pitchFamily="34" charset="-122"/>
            </a:endParaRPr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用 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Codex 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从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 Zotero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 读取特定论文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AI工具介绍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288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文献管理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找 idea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AI编程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写作与绘图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找 idea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457200" y="1572768"/>
            <a:ext cx="8229600" cy="3035808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828800"/>
            <a:ext cx="75895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ARS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</a:t>
            </a:r>
            <a:r>
              <a:rPr lang="en-GB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3"/>
              </a:rPr>
              <a:t>https://github.com/Imbad0202/academic-research-skills-codex/tree/main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):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‘deep-research/</a:t>
            </a:r>
            <a:r>
              <a:rPr lang="en-US" altLang="zh-CN" sz="2000" dirty="0" err="1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socratic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’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endParaRPr lang="en-US" altLang="zh-CN" sz="2000" dirty="0">
              <a:solidFill>
                <a:srgbClr val="000000"/>
              </a:solidFill>
              <a:latin typeface="Microsoft YaHei" pitchFamily="34" charset="0"/>
              <a:ea typeface="Microsoft YaHei" pitchFamily="34" charset="-122"/>
              <a:cs typeface="Microsoft YaHei" pitchFamily="34" charset="-120"/>
            </a:endParaRPr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Good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 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question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sym typeface="Wingdings" pitchFamily="2" charset="2"/>
              </a:rPr>
              <a:t> 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sym typeface="Wingdings" pitchFamily="2" charset="2"/>
              </a:rPr>
              <a:t>(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sym typeface="Wingdings" pitchFamily="2" charset="2"/>
                <a:hlinkClick r:id="rId4"/>
              </a:rPr>
              <a:t>https://github.com/Rimagination/good-question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sym typeface="Wingdings" pitchFamily="2" charset="2"/>
              </a:rPr>
              <a:t>)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sym typeface="Wingdings" pitchFamily="2" charset="2"/>
              </a:rPr>
              <a:t> 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AI工具介绍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288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文献管理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找 idea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AI编程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写作与绘图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AI编程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457200" y="1572768"/>
            <a:ext cx="8229600" cy="3035808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22960" y="18745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4.1. </a:t>
            </a:r>
            <a:r>
              <a:rPr lang="en-US" sz="20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项目管理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22960" y="244144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 </a:t>
            </a:r>
            <a:r>
              <a:rPr lang="en-US" sz="20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文件结构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22960" y="3008376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 </a:t>
            </a:r>
            <a:r>
              <a:rPr lang="en-US" sz="20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上下文管理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" y="3575304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4.4. </a:t>
            </a:r>
            <a:r>
              <a:rPr lang="en-US" sz="20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代码规范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846320" y="18745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4.5. </a:t>
            </a:r>
            <a:r>
              <a:rPr lang="en-US" sz="20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怎么写 prompt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846320" y="244144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4.6. </a:t>
            </a:r>
            <a:r>
              <a:rPr lang="en-US" sz="20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编程 Skill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846320" y="3008376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4.7. </a:t>
            </a:r>
            <a:r>
              <a:rPr lang="en-US" sz="20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多任务并行开发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AI工具介绍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288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文献管理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找 idea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AI编程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写作与绘图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4.1. 项目管理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457200" y="1572768"/>
            <a:ext cx="8229600" cy="3035808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828800"/>
            <a:ext cx="75895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en-US" sz="2000" dirty="0" err="1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uv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管理 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开发环境（掌握 </a:t>
            </a:r>
            <a:r>
              <a:rPr lang="en-US" altLang="zh-CN" sz="2000" dirty="0" err="1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init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/sync/add 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即可）</a:t>
            </a:r>
            <a:endParaRPr lang="en-US" altLang="zh-CN" sz="2000" dirty="0">
              <a:solidFill>
                <a:srgbClr val="000000"/>
              </a:solidFill>
              <a:latin typeface="Microsoft YaHei" pitchFamily="34" charset="0"/>
              <a:ea typeface="Microsoft YaHei" pitchFamily="34" charset="-122"/>
              <a:cs typeface="Microsoft YaHei" pitchFamily="34" charset="-120"/>
            </a:endParaRPr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en-US" sz="2000" dirty="0" err="1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</a:t>
            </a:r>
            <a:r>
              <a:rPr 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pyproject.toml</a:t>
            </a:r>
            <a:r>
              <a:rPr 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</a:t>
            </a:r>
            <a:endParaRPr lang="en-US" sz="2000" dirty="0">
              <a:solidFill>
                <a:srgbClr val="000000"/>
              </a:solidFill>
              <a:latin typeface="Microsoft YaHei" pitchFamily="34" charset="0"/>
              <a:ea typeface="Microsoft YaHei" pitchFamily="34" charset="-122"/>
              <a:cs typeface="Microsoft YaHei" pitchFamily="34" charset="-120"/>
            </a:endParaRPr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lang="en-US" sz="2000" dirty="0" err="1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使用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 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 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管理项目变动和版本 </a:t>
            </a:r>
            <a:endParaRPr lang="en-US" altLang="zh-CN" sz="2000" dirty="0">
              <a:solidFill>
                <a:srgbClr val="000000"/>
              </a:solidFill>
              <a:latin typeface="Microsoft YaHei" pitchFamily="34" charset="0"/>
              <a:ea typeface="Microsoft YaHei" pitchFamily="34" charset="-122"/>
              <a:cs typeface="Microsoft YaHei" pitchFamily="34" charset="-120"/>
            </a:endParaRPr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.</a:t>
            </a:r>
            <a:r>
              <a:rPr lang="en-US" altLang="zh-CN" sz="2000" dirty="0" err="1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gitignore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文件</a:t>
            </a:r>
            <a:endParaRPr lang="en-US" sz="2000" dirty="0">
              <a:solidFill>
                <a:srgbClr val="000000"/>
              </a:solidFill>
              <a:latin typeface="Microsoft YaHei" pitchFamily="34" charset="0"/>
              <a:ea typeface="Microsoft YaHei" pitchFamily="34" charset="-122"/>
            </a:endParaRPr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lang="en-US" altLang="zh-CN" sz="2000" dirty="0" err="1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uv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: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 </a:t>
            </a:r>
            <a:r>
              <a:rPr lang="en-GB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hlinkClick r:id="rId3"/>
              </a:rPr>
              <a:t>https://uv.oaix.tech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;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 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git: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 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AI工具介绍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288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文献管理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找 idea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AI编程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写作与绘图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 文件结构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38603" y="1107578"/>
            <a:ext cx="4288450" cy="373487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en-US" sz="2000" dirty="0" err="1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可在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 </a:t>
            </a:r>
            <a:r>
              <a:rPr lang="en-US" altLang="zh-CN" sz="2000" dirty="0" err="1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AGENTS.md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 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说明文件结构</a:t>
            </a:r>
            <a:endParaRPr lang="en-US" sz="2000" dirty="0">
              <a:solidFill>
                <a:srgbClr val="000000"/>
              </a:solidFill>
              <a:latin typeface="Microsoft YaHei" pitchFamily="34" charset="0"/>
              <a:ea typeface="Microsoft YaHei" pitchFamily="34" charset="-122"/>
            </a:endParaRPr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en-US" sz="2000" dirty="0" err="1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文档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 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docs</a:t>
            </a:r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以 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feature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 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workflow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 为基本单位，以模块化的方式管理、开发</a:t>
            </a:r>
            <a:endParaRPr lang="en-US" altLang="zh-CN" sz="2000" dirty="0">
              <a:solidFill>
                <a:srgbClr val="000000"/>
              </a:solidFill>
              <a:latin typeface="Microsoft YaHei" pitchFamily="34" charset="0"/>
              <a:ea typeface="Microsoft YaHei" pitchFamily="34" charset="-122"/>
            </a:endParaRPr>
          </a:p>
          <a:p>
            <a:pPr marL="647700" lvl="1" indent="-190500">
              <a:spcAft>
                <a:spcPts val="1400"/>
              </a:spcAft>
              <a:buSzPct val="100000"/>
              <a:buChar char="•"/>
            </a:pPr>
            <a:r>
              <a:rPr lang="en-US" sz="2000" dirty="0" err="1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代码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 </a:t>
            </a:r>
            <a:r>
              <a:rPr lang="en-US" altLang="zh-CN" sz="2000" dirty="0" err="1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src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/web</a:t>
            </a:r>
          </a:p>
          <a:p>
            <a:pPr marL="647700" lvl="1" indent="-190500">
              <a:spcAft>
                <a:spcPts val="1400"/>
              </a:spcAft>
              <a:buSzPct val="100000"/>
              <a:buChar char="•"/>
            </a:pP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测试 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test</a:t>
            </a:r>
          </a:p>
          <a:p>
            <a:pPr marL="647700" lvl="1" indent="-190500">
              <a:spcAft>
                <a:spcPts val="1400"/>
              </a:spcAft>
              <a:buSzPct val="100000"/>
              <a:buChar char="•"/>
            </a:pPr>
            <a:r>
              <a:rPr lang="en-US" sz="2000" dirty="0" err="1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工作流脚本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 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script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 </a:t>
            </a:r>
            <a:endParaRPr lang="en-US" altLang="zh-CN" sz="2000" dirty="0">
              <a:solidFill>
                <a:srgbClr val="000000"/>
              </a:solidFill>
              <a:latin typeface="Microsoft YaHei" pitchFamily="34" charset="0"/>
              <a:ea typeface="Microsoft YaHei" pitchFamily="34" charset="-122"/>
            </a:endParaRPr>
          </a:p>
          <a:p>
            <a:pPr marL="647700" lvl="1" indent="-190500">
              <a:spcAft>
                <a:spcPts val="1400"/>
              </a:spcAft>
              <a:buSzPct val="100000"/>
              <a:buChar char="•"/>
            </a:pPr>
            <a:r>
              <a:rPr lang="en-US" sz="2000" dirty="0" err="1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配置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 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config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 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14E51304-997F-335A-DD39-781951E012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6884" y="767430"/>
            <a:ext cx="2590859" cy="407502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AI工具介绍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288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文献管理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找 idea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AI编程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写作与绘图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 上下文管理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457200" y="1572768"/>
            <a:ext cx="8229600" cy="3035808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828800"/>
            <a:ext cx="75895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项目内</a:t>
            </a:r>
            <a:r>
              <a:rPr lang="en-US" altLang="zh-CN" sz="2000" dirty="0" err="1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AGENTS.md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 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文件写作原则：</a:t>
            </a:r>
            <a:endParaRPr lang="en-US" altLang="zh-CN" sz="2000" dirty="0">
              <a:solidFill>
                <a:srgbClr val="000000"/>
              </a:solidFill>
              <a:latin typeface="Microsoft YaHei" pitchFamily="34" charset="0"/>
              <a:ea typeface="Microsoft YaHei" pitchFamily="34" charset="-122"/>
            </a:endParaRPr>
          </a:p>
          <a:p>
            <a:pPr marL="647700" lvl="1" indent="-190500">
              <a:spcAft>
                <a:spcPts val="1400"/>
              </a:spcAft>
              <a:buSzPct val="100000"/>
              <a:buChar char="•"/>
            </a:pP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尽量简洁：可包含项目背景、工作规则、工具规范</a:t>
            </a:r>
            <a:endParaRPr lang="en-US" altLang="zh-CN" sz="2000" dirty="0">
              <a:solidFill>
                <a:srgbClr val="000000"/>
              </a:solidFill>
              <a:latin typeface="Microsoft YaHei" pitchFamily="34" charset="0"/>
              <a:ea typeface="Microsoft YaHei" pitchFamily="34" charset="-122"/>
            </a:endParaRPr>
          </a:p>
          <a:p>
            <a:pPr marL="647700" lvl="1" indent="-190500">
              <a:spcAft>
                <a:spcPts val="1400"/>
              </a:spcAft>
              <a:buSzPct val="100000"/>
              <a:buChar char="•"/>
            </a:pP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渐进式披露：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map,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 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references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</a:rPr>
              <a:t> </a:t>
            </a:r>
            <a:endParaRPr lang="en-US" altLang="zh-CN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AI工具介绍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288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文献管理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找 idea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AI编程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写作与绘图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4.4. 代码规范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457200" y="1572768"/>
            <a:ext cx="8229600" cy="3035808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828800"/>
            <a:ext cx="75895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实践经验：my coding practices</a:t>
            </a:r>
            <a:endParaRPr lang="en-US" sz="2000" dirty="0"/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en-US" sz="2000" dirty="0" err="1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pytest、ruff、mypy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工具及其配置方式</a:t>
            </a:r>
            <a:endParaRPr lang="en-US" sz="2000" dirty="0">
              <a:solidFill>
                <a:srgbClr val="000000"/>
              </a:solidFill>
              <a:latin typeface="Microsoft YaHei" pitchFamily="34" charset="0"/>
              <a:ea typeface="Microsoft YaHei" pitchFamily="34" charset="-122"/>
              <a:cs typeface="Microsoft YaHei" pitchFamily="34" charset="-120"/>
            </a:endParaRPr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pre-commit </a:t>
            </a:r>
            <a:r>
              <a:rPr lang="en-US" sz="2000" dirty="0" err="1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</a:t>
            </a:r>
            <a:endParaRPr lang="en-US" sz="2000" dirty="0"/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INIT.sh 文件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AI工具介绍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288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文献管理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找 idea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AI编程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写作与绘图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4.5. 怎么写 prompt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457200" y="1572768"/>
            <a:ext cx="8229600" cy="3035808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828800"/>
            <a:ext cx="75895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Codex Desktop 连接 ChatGPT Web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AI工具介绍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288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文献管理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找 idea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AI编程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写作与绘图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4.6. 编程 Skill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457200" y="1572768"/>
            <a:ext cx="8229600" cy="3035808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828800"/>
            <a:ext cx="75895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/plan</a:t>
            </a:r>
            <a:endParaRPr lang="en-US" sz="2000" dirty="0"/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/goal</a:t>
            </a:r>
            <a:endParaRPr lang="en-US" sz="2000" dirty="0"/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/grill-me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3"/>
              </a:rPr>
              <a:t>https://github.com/mattpocock/skills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)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AI工具介绍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288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文献管理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找 idea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AI编程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写作与绘图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4.7. 多任务并行开发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457200" y="1572768"/>
            <a:ext cx="8229600" cy="3035808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828800"/>
            <a:ext cx="75895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branch、worktree</a:t>
            </a:r>
            <a:endParaRPr lang="en-US" sz="2000" dirty="0"/>
          </a:p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worktree 同步工具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74E79F60-AC0A-F04E-39A9-8E91B261A7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7396" y="1735093"/>
            <a:ext cx="4895045" cy="275492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AI工具介绍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288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文献管理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找 idea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A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AI编程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0" y="1554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写作与绘图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530352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写作与绘图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457200" y="1572768"/>
            <a:ext cx="8229600" cy="3035808"/>
          </a:xfrm>
          <a:prstGeom prst="roundRect">
            <a:avLst>
              <a:gd name="adj" fmla="val 1205"/>
            </a:avLst>
          </a:prstGeom>
          <a:solidFill>
            <a:srgbClr val="F4F7FA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828800"/>
            <a:ext cx="7589520" cy="27174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 algn="l">
              <a:spcAft>
                <a:spcPts val="1400"/>
              </a:spcAft>
              <a:buSzPct val="100000"/>
              <a:buChar char="•"/>
            </a:pPr>
            <a:r>
              <a:rPr lang="en-US" sz="2000" dirty="0" err="1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建议使用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Latex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endParaRPr lang="en-US" sz="2000" dirty="0">
              <a:solidFill>
                <a:srgbClr val="000000"/>
              </a:solidFill>
              <a:latin typeface="Microsoft YaHei" pitchFamily="34" charset="0"/>
              <a:ea typeface="Microsoft YaHei" pitchFamily="34" charset="-122"/>
              <a:cs typeface="Microsoft YaHei" pitchFamily="34" charset="-120"/>
            </a:endParaRPr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lang="en-US" sz="2000" dirty="0" err="1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润色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skills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: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endParaRPr lang="en-US" altLang="zh-CN" sz="2000" dirty="0">
              <a:solidFill>
                <a:srgbClr val="000000"/>
              </a:solidFill>
              <a:latin typeface="Microsoft YaHei" pitchFamily="34" charset="0"/>
              <a:ea typeface="Microsoft YaHei" pitchFamily="34" charset="-122"/>
              <a:cs typeface="Microsoft YaHei" pitchFamily="34" charset="-120"/>
            </a:endParaRPr>
          </a:p>
          <a:p>
            <a:pPr marL="647700" lvl="1" indent="-1905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Humanizer</a:t>
            </a: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altLang="zh-CN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</a:t>
            </a:r>
            <a:r>
              <a:rPr lang="en-US" altLang="zh-CN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3"/>
              </a:rPr>
              <a:t>https://github.com/blader/humanizer</a:t>
            </a:r>
            <a:r>
              <a:rPr lang="en-US" altLang="zh-CN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)</a:t>
            </a: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</a:p>
          <a:p>
            <a:pPr marL="647700" lvl="1" indent="-1905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Grammar Check Guide</a:t>
            </a: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altLang="zh-CN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(https://</a:t>
            </a:r>
            <a:r>
              <a:rPr lang="en-US" altLang="zh-CN" sz="1600" dirty="0" err="1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github.com</a:t>
            </a:r>
            <a:r>
              <a:rPr lang="en-US" altLang="zh-CN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/</a:t>
            </a:r>
            <a:r>
              <a:rPr lang="en-US" altLang="zh-CN" sz="1600" dirty="0" err="1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wentorai</a:t>
            </a:r>
            <a:r>
              <a:rPr lang="en-US" altLang="zh-CN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/research-plugins/tree/main/skills/writing/polish)</a:t>
            </a:r>
            <a:endParaRPr lang="en-US" sz="1600" dirty="0">
              <a:solidFill>
                <a:srgbClr val="000000"/>
              </a:solidFill>
              <a:latin typeface="Microsoft YaHei" pitchFamily="34" charset="0"/>
              <a:ea typeface="Microsoft YaHei" pitchFamily="34" charset="-122"/>
              <a:cs typeface="Microsoft YaHei" pitchFamily="34" charset="-120"/>
            </a:endParaRPr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lang="en-US" sz="2000" dirty="0" err="1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画图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altLang="zh-CN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skills:</a:t>
            </a:r>
            <a:r>
              <a:rPr lang="zh-CN" altLang="en-US" sz="20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Nature Figure</a:t>
            </a:r>
            <a:r>
              <a:rPr lang="zh-CN" altLang="en-US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altLang="zh-CN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</a:t>
            </a:r>
            <a:r>
              <a:rPr lang="en-US" altLang="zh-CN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4"/>
              </a:rPr>
              <a:t>https://github.com/Yuan1z0825/nature-skills</a:t>
            </a:r>
            <a:r>
              <a:rPr lang="en-US" altLang="zh-CN" sz="16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)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863840" y="4773168"/>
            <a:ext cx="8229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777777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41732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谢谢！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2514600"/>
            <a:ext cx="1828800" cy="4572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2811781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欢迎交流　·　</a:t>
            </a:r>
            <a:r>
              <a:rPr lang="en-US" sz="2000" dirty="0" err="1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欢迎讨论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</TotalTime>
  <Words>2196</Words>
  <Application>Microsoft Macintosh PowerPoint</Application>
  <PresentationFormat>全屏显示(16:9)</PresentationFormat>
  <Paragraphs>310</Paragraphs>
  <Slides>26</Slides>
  <Notes>26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26</vt:i4>
      </vt:variant>
    </vt:vector>
  </HeadingPairs>
  <TitlesOfParts>
    <vt:vector size="30" baseType="lpstr">
      <vt:lpstr>Microsoft YaHei</vt:lpstr>
      <vt:lpstr>Arial</vt:lpstr>
      <vt:lpstr>Wingdings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（待补充）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AI辅助科研工作流分享</dc:title>
  <dc:subject>v1：框架 + 模板 + 标题（编号制）</dc:subject>
  <dc:creator>（待补充）</dc:creator>
  <cp:lastModifiedBy>Weiqi</cp:lastModifiedBy>
  <cp:revision>69</cp:revision>
  <dcterms:created xsi:type="dcterms:W3CDTF">2026-09-25T07:17:51Z</dcterms:created>
  <dcterms:modified xsi:type="dcterms:W3CDTF">2026-09-25T09:39:08Z</dcterms:modified>
</cp:coreProperties>
</file>