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/>
    <p:restoredTop sz="97831"/>
  </p:normalViewPr>
  <p:slideViewPr>
    <p:cSldViewPr snapToGrid="0" snapToObjects="1">
      <p:cViewPr varScale="1">
        <p:scale>
          <a:sx n="297" d="100"/>
          <a:sy n="297" d="100"/>
        </p:scale>
        <p:origin x="10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【v1 范围】整体框架 + 版式模板 + 标题。正文均为骨架占位，未新增内容。
待补充：汇报人、单位、场合、日期。
主标题沿用 docx 标题「AI辅助科研工作流分享」。
修订：整篇改为白底（封面、章节页不再使用深色填色）。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全篇目录页（对应 docx 的 5 个 H1）。
编号即后续页码前缀：1.x 属于第一章，4.x 属于第四章。
【v2 待办】若最终汇报时间紧张，本页可删除；章节编号已足够导航。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层级：H1「AI工具介绍」——本章内容页（章节概览）。
docx 中本章无正文，故列其 H2 小节。
【v2 待办】可补一句本章结论（为什么先讲工具形态），若加需在 docx 中同步。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H2「三种形态」。
docx 修订（2025-09-25）：本节删掉了「AI Agent = Model + Harness」一行（全文已无 Harness），只保留引导句 + 三种形态，本页据此重排。
卡片内的工具列表取自 docx 的 Web: / CLI: / Desktop APP: 三行原文，未扩写。
【v2 待办】
1. 引导句可改写为 action title（例：「三种形态的差别不在模型，而在 Harness 能做什么」）。
2. 三栏可细化为对比表：能力边界 / 适用场景 / 单次任务粒度 / 是否读写本地文件。
3. 若仍想讲 Model 与 Harness 的分工，需在 docx 中补回该节点。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H2「介绍 Codex Desktop」（其下 4 个 H3）——本节内容页。
【v2 待办】可加一张 Codex Desktop 界面截图（真实界面图是允许的）。
若不讲全 4 项，删除对应卡片并同步删除后续页。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 &gt; H3「APP connector」。
【v2 待办】建议「配置步骤截图 + 每步一句说明」的流程式排版。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 &gt; H3「Skills and MCP」。docx 中此节无正文，故为纯占位。
【v2 待办】建议拆两页：Skills（如何写、如何调用）与 MCP（连接什么、权限边界），各配一个最小示例。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 &gt; H3「Skills and MCP」。docx 中此节无正文，故为纯占位。
【v2 待办】建议拆两页：Skills（如何写、如何调用）与 MCP（连接什么、权限边界），各配一个最小示例。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 &gt; H3「配置文件 config.toml」。docx 中此节无正文，故为纯占位。
【v2 待办】建议贴一份最小可用的 config.toml 片段，关键字段加注释，不逐行讲解。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 &gt; H3「配置文件 config.toml」。docx 中此节无正文，故为纯占位。
【v2 待办】建议贴一份最小可用的 config.toml 片段，关键字段加注释，不逐行讲解。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 &gt; H3「上下文Agents.md」。
注意：与 4.3「上下文管理」是两处不同语境，勿合并。
【v2 待办】与 4.3 保持同一套示例，避免观众重复学习。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层级：H1「文献管理」——本章内容页（章节概览）。
【v2 待办】本章可与第 5 章（写作）合并成一节讲，取决于总时长。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H2「检索论文」。
docx 修订：本节由「用 AI 搜索论文」改名为「检索论文」，并补了一句结论：检索交给专用工具。
【v2 待办】本页那句结论建议直接当作 action title（现标题仍是主题词）；并做真实检索 demo：同一 query 在 Undermind 与普通搜索下的结果差异（左右对照截图）。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H2「Zotero 管理文献」。
【v2 待办】「连接配置 → 可做什么 → 权限与安全边界」三段式；与 1.2.1 APP connector 互相引用。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层级：H1「找 idea」——无子节点，本章内容页即正文页。
【v2 待办】建议放一段真实对话记录（脱敏截图）+ 一句「AI 提出过什么好问题」。
ARS 首次出现需给全称并定义。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层级：H1「AI编程」——本章内容页（章节概览，7 个 H2）。
本页 7 项已在 docx 中存在；若最终只讲 5 项，删除对应行与后续页。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H2「项目管理」。
【v2 待办】「初始化到提交」的一条命令流示例；pyproject.toml 只讲 AI 需要读懂的字段。
若时间紧张，本页与 4.2「文件结构」可合并。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H2「文件结构」。docx 中此节无正文，故为纯占位。
【v2 待办】建议给一棵目录树（tree 输出），标注 AI 该读哪些、不该读哪些。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H2「上下文管理」。
【v2 待办】「Agents.md 最小骨架（5 行）」+「渐进式披露：什么放主文件、什么放子文件」两张对照。
与 1.2.4 共用一套示例。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H2「代码规范」。
【v2 待办】一页一主题，或一张工具链图：commit 时 pre-commit → ruff → mypy → pytest 的触发顺序。
INIT.sh 建议给出实际内容与用途（新仓库一键初始化）。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H2「怎么写 prompt」。
docx 中该 H2 下只有一句，与标题不完全对齐——需确认是「prompt 写法」还是「Desktop 与 Web 联动」。
【v2 待办】若是 prompt 写法：给「差 prompt → 好 prompt」对照。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H2「编程 Skill」。
【v2 待办】每个命令一行「怎么用 + 什么时候用」；建议加一次 /plan 的真实输出截图。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 &gt; H2「多任务并行开发」。
【v2 待办】示意图：1 个仓库 → N 个 worktree → N 个 AI 会话并行；标注冲突如何避免。
worktree 同步工具需给出名称与使用场景。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层级：H1「写作与绘图」——无子节点，本章内容页即正文页。
docx 原文：「介绍 skills 为主，Humanizer, Grammar Check Guide, Nature Figure, etc.」
【v2 待办】每个 skill 配一张「输入 → 输出」前后对照图；Nature Figure 给一张成品图。
【框架提醒】本页是最后一页。按 academic-pptx-skill 规范，正式版应在正文末尾增加一页「结论」并停留于 Q&amp;A 阶段（v1 未加，以免超出给定结构）。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 DOCX 第 6 节“讨论”整理。归并原文六个关注点：论文 AI 味、重复纠错与 AGENTS.md、Skills / plugins 使用、大数据输入、AI 编程与调试、虚构文献。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致谢页（按大将军指令新增）——全篇收尾。
待补充：联系方式、二维码或幻灯片/预印本链接。
【规范提醒】academic-pptx-skill 主张「以结论页收尾、不用 Thank You 结束」；若采纳，建议在本页之前先加一页「结论」，本页仅作最后一屏。
本页不加面包屑与页码（与封面同为版式书挡）。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BD6567A-0480-40E0-9086-7BBDE9D7CE7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4D28EC2-50CD-47CA-839B-AA0CAC36355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cilyal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bad0202/academic-research-skills-codex/tree/mai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imagination/good-question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v.oaix.tech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ttpocock/skill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lader/humanizer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Gabberflast/academic-pptx-skill" TargetMode="External"/><Relationship Id="rId4" Type="http://schemas.openxmlformats.org/officeDocument/2006/relationships/hyperlink" Target="https://github.com/Yuan1z0825/nature-skill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cilyala/ai_sharing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ACA5A1-165A-469E-A916-DDB39A0A03F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4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AI辅助科研工作流分享</a:t>
            </a:r>
            <a:endParaRPr sz="4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35542B7-7269-4847-BB6C-EF1D04C28B80}"/>
              </a:ext>
            </a:extLst>
          </p:cNvPr>
          <p:cNvSpPr>
            <a:spLocks noGrp="1"/>
          </p:cNvSpPr>
          <p:nvPr/>
        </p:nvSpPr>
        <p:spPr>
          <a:xfrm>
            <a:off x="640080" y="2514600"/>
            <a:ext cx="18288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F2953D-3D85-4EA2-A50B-28A3A8E48F8B}"/>
              </a:ext>
            </a:extLst>
          </p:cNvPr>
          <p:cNvSpPr>
            <a:spLocks noGrp="1"/>
          </p:cNvSpPr>
          <p:nvPr/>
        </p:nvSpPr>
        <p:spPr>
          <a:xfrm>
            <a:off x="640080" y="282916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汇报人　·　陈伟琪</a:t>
            </a:r>
            <a:endParaRPr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F7A4C1-5725-4771-8C90-1088CA8B8D7D}"/>
              </a:ext>
            </a:extLst>
          </p:cNvPr>
          <p:cNvSpPr>
            <a:spLocks noGrp="1"/>
          </p:cNvSpPr>
          <p:nvPr/>
        </p:nvSpPr>
        <p:spPr>
          <a:xfrm>
            <a:off x="640080" y="3463773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dirty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2026年9月29日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7658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1EF20-6EA8-3C52-2434-32BECFCBDF9D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自我介绍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8D76ED-8C36-8B17-BE84-C2B318D93402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D1EE98-4B7B-8412-0C04-8838CC9B1AC1}"/>
              </a:ext>
            </a:extLst>
          </p:cNvPr>
          <p:cNvSpPr>
            <a:spLocks noGrp="1"/>
          </p:cNvSpPr>
          <p:nvPr/>
        </p:nvSpPr>
        <p:spPr>
          <a:xfrm>
            <a:off x="822960" y="1874520"/>
            <a:ext cx="7252094" cy="238409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硕士就读于东南大学交通学院（2021-2024），期间主要研究新能源汽车生态驾驶、深度强化学习，论文源码开源地址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  <a:hlinkClick r:id="rId3"/>
              </a:rPr>
              <a:t>https://github.com/sicilyala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现为香港理工大学在读博士生，主要研究方向包括交通安全、人车交互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A8B914E-B17E-0097-C94E-2DE83B5C551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13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E7B265-9392-4FC5-B1E6-74B065654F8F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sz="3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007319-58B4-4C7A-902D-E0BABC309254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EBD128-142B-4506-A7AD-627287AB2787}"/>
              </a:ext>
            </a:extLst>
          </p:cNvPr>
          <p:cNvSpPr>
            <a:spLocks noGrp="1"/>
          </p:cNvSpPr>
          <p:nvPr/>
        </p:nvSpPr>
        <p:spPr>
          <a:xfrm>
            <a:off x="822960" y="1685925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AI 工具介绍——以 Codex 为例</a:t>
            </a:r>
            <a:endParaRPr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74DD2E-0F44-4429-9057-6074D2B501EF}"/>
              </a:ext>
            </a:extLst>
          </p:cNvPr>
          <p:cNvSpPr>
            <a:spLocks noGrp="1"/>
          </p:cNvSpPr>
          <p:nvPr/>
        </p:nvSpPr>
        <p:spPr>
          <a:xfrm>
            <a:off x="822960" y="2162175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文献管理</a:t>
            </a:r>
            <a:endParaRPr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D3EC17-F85C-4CCE-B93F-4FDE5DFF5FFA}"/>
              </a:ext>
            </a:extLst>
          </p:cNvPr>
          <p:cNvSpPr>
            <a:spLocks noGrp="1"/>
          </p:cNvSpPr>
          <p:nvPr/>
        </p:nvSpPr>
        <p:spPr>
          <a:xfrm>
            <a:off x="822960" y="2638425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找 idea</a:t>
            </a:r>
            <a:endParaRPr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303DE21-FE26-4547-91C4-C57E54268595}"/>
              </a:ext>
            </a:extLst>
          </p:cNvPr>
          <p:cNvSpPr>
            <a:spLocks noGrp="1"/>
          </p:cNvSpPr>
          <p:nvPr/>
        </p:nvSpPr>
        <p:spPr>
          <a:xfrm>
            <a:off x="822960" y="3114675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AI 编程</a:t>
            </a:r>
            <a:endParaRPr sz="2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8F33C9-0AE5-426F-AC26-DBC0BBFDF841}"/>
              </a:ext>
            </a:extLst>
          </p:cNvPr>
          <p:cNvSpPr>
            <a:spLocks noGrp="1"/>
          </p:cNvSpPr>
          <p:nvPr/>
        </p:nvSpPr>
        <p:spPr>
          <a:xfrm>
            <a:off x="822960" y="3590925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写作与绘图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CD21D4D-0FC9-4C86-9B40-67C051B94CA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26" name="TOC item 6 Discussion">
            <a:extLst>
              <a:ext uri="{FF2B5EF4-FFF2-40B4-BE49-F238E27FC236}">
                <a16:creationId xmlns:a16="http://schemas.microsoft.com/office/drawing/2014/main" id="{27AB5FEF-00EF-4582-87B9-A963C9E3073C}"/>
              </a:ext>
            </a:extLst>
          </p:cNvPr>
          <p:cNvSpPr>
            <a:spLocks noGrp="1"/>
          </p:cNvSpPr>
          <p:nvPr/>
        </p:nvSpPr>
        <p:spPr>
          <a:xfrm>
            <a:off x="822960" y="4067175"/>
            <a:ext cx="74980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000"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</p:spTree>
    <p:extLst>
      <p:ext uri="{BB962C8B-B14F-4D97-AF65-F5344CB8AC3E}">
        <p14:creationId xmlns:p14="http://schemas.microsoft.com/office/powerpoint/2010/main" val="88029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C0BF29-3C87-4353-9055-E86FABBFC2E2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F98747-FC32-4C75-AF2E-73BAAD11E9B2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66EA44-FCC0-4F99-A3E9-33367F6477EF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6C9468-7318-4D17-91E3-D369F818725F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19AC24-BB11-4BE9-B2DC-03A12CCA1C53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E5A094-B66A-4BC6-B086-66121CB7684D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 AI 工具介绍——以 Codex 为例</a:t>
            </a:r>
            <a:endParaRPr sz="3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DB40796-6830-46FF-B138-5A6969699487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239A9E-CEE7-4559-8627-45C2C2F7F15B}"/>
              </a:ext>
            </a:extLst>
          </p:cNvPr>
          <p:cNvSpPr>
            <a:spLocks noGrp="1"/>
          </p:cNvSpPr>
          <p:nvPr/>
        </p:nvSpPr>
        <p:spPr>
          <a:xfrm>
            <a:off x="822960" y="187452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1.1.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三种形态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EC47EF-F7BE-4477-ADCC-F6DEFE745810}"/>
              </a:ext>
            </a:extLst>
          </p:cNvPr>
          <p:cNvSpPr>
            <a:spLocks noGrp="1"/>
          </p:cNvSpPr>
          <p:nvPr/>
        </p:nvSpPr>
        <p:spPr>
          <a:xfrm>
            <a:off x="822960" y="244144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1.2.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介绍 Codex Desktop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20FFCD2-5B93-4630-B9A9-6915908569D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DD563F47-0D60-48E5-BC03-CB1095506902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89703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6B0543-1368-4655-AE20-7F0FE99B3EDE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A800DD-5CBE-410E-868E-39B6380AD659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97291B-D7C7-46AB-9B63-209BEBA76E0D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34C9ED-9A43-4A6A-88C4-DB002D0D4CDB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7898F6-64FD-42DE-83FB-D1FD0F66C638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026D3B-2F5D-4D11-9193-CAB6114AB938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1.1. 三种形态</a:t>
            </a:r>
            <a:endParaRPr sz="2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9FB0F3-00B0-4494-B817-E1821436C642}"/>
              </a:ext>
            </a:extLst>
          </p:cNvPr>
          <p:cNvSpPr>
            <a:spLocks noGrp="1"/>
          </p:cNvSpPr>
          <p:nvPr/>
        </p:nvSpPr>
        <p:spPr>
          <a:xfrm>
            <a:off x="637075" y="1033271"/>
            <a:ext cx="8229600" cy="80840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Web：日常对话、问答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sz="1600">
                <a:latin typeface="Microsoft YaHei"/>
                <a:ea typeface="Microsoft YaHei"/>
                <a:cs typeface="Microsoft YaHei"/>
              </a:rPr>
              <a:t>CLI、Desktop APP：综合开发</a:t>
            </a:r>
            <a:endParaRPr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5519F5A-DF7C-480B-AA04-53A8D86040A8}"/>
              </a:ext>
            </a:extLst>
          </p:cNvPr>
          <p:cNvSpPr>
            <a:spLocks noGrp="1"/>
          </p:cNvSpPr>
          <p:nvPr/>
        </p:nvSpPr>
        <p:spPr>
          <a:xfrm>
            <a:off x="457200" y="1965960"/>
            <a:ext cx="2560320" cy="2651760"/>
          </a:xfrm>
          <a:prstGeom prst="roundRect">
            <a:avLst>
              <a:gd name="adj" fmla="val 1786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55F157-E304-44A7-8309-CC3627B7D14C}"/>
              </a:ext>
            </a:extLst>
          </p:cNvPr>
          <p:cNvSpPr>
            <a:spLocks noGrp="1"/>
          </p:cNvSpPr>
          <p:nvPr/>
        </p:nvSpPr>
        <p:spPr>
          <a:xfrm>
            <a:off x="685800" y="2148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Web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5A549C-D0F3-4924-8863-40333D82210C}"/>
              </a:ext>
            </a:extLst>
          </p:cNvPr>
          <p:cNvSpPr>
            <a:spLocks noGrp="1"/>
          </p:cNvSpPr>
          <p:nvPr/>
        </p:nvSpPr>
        <p:spPr>
          <a:xfrm>
            <a:off x="640080" y="2606040"/>
            <a:ext cx="21945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endParaRPr sz="160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DeepSeek</a:t>
            </a:r>
            <a:endParaRPr sz="16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20F71F4-B123-45D7-9657-2987FEFFA779}"/>
              </a:ext>
            </a:extLst>
          </p:cNvPr>
          <p:cNvSpPr>
            <a:spLocks noGrp="1"/>
          </p:cNvSpPr>
          <p:nvPr/>
        </p:nvSpPr>
        <p:spPr>
          <a:xfrm>
            <a:off x="3291840" y="1965960"/>
            <a:ext cx="2560320" cy="2651760"/>
          </a:xfrm>
          <a:prstGeom prst="roundRect">
            <a:avLst>
              <a:gd name="adj" fmla="val 1786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F4BCADB-7B0B-4CA4-9566-3DB7652AF7F9}"/>
              </a:ext>
            </a:extLst>
          </p:cNvPr>
          <p:cNvSpPr>
            <a:spLocks noGrp="1"/>
          </p:cNvSpPr>
          <p:nvPr/>
        </p:nvSpPr>
        <p:spPr>
          <a:xfrm>
            <a:off x="3520440" y="2148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CLI</a:t>
            </a:r>
            <a:r>
              <a:rPr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 / TUI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8CDB7EF-3399-4E6C-B91E-64F2385BC777}"/>
              </a:ext>
            </a:extLst>
          </p:cNvPr>
          <p:cNvSpPr>
            <a:spLocks noGrp="1"/>
          </p:cNvSpPr>
          <p:nvPr/>
        </p:nvSpPr>
        <p:spPr>
          <a:xfrm>
            <a:off x="3474720" y="2606040"/>
            <a:ext cx="21945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Codex CLI</a:t>
            </a:r>
            <a:endParaRPr sz="160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Claude Code CLI</a:t>
            </a:r>
            <a:endParaRPr sz="160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Pi</a:t>
            </a:r>
            <a:endParaRPr sz="160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ZCode</a:t>
            </a:r>
            <a:endParaRPr sz="160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Kimi Code</a:t>
            </a:r>
            <a:endParaRPr sz="16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E760D96-5273-44EC-BEE2-9ABBEA74BFA0}"/>
              </a:ext>
            </a:extLst>
          </p:cNvPr>
          <p:cNvSpPr>
            <a:spLocks noGrp="1"/>
          </p:cNvSpPr>
          <p:nvPr/>
        </p:nvSpPr>
        <p:spPr>
          <a:xfrm>
            <a:off x="6126480" y="1965960"/>
            <a:ext cx="2560320" cy="2651760"/>
          </a:xfrm>
          <a:prstGeom prst="roundRect">
            <a:avLst>
              <a:gd name="adj" fmla="val 1786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7E4B4F9-094A-4E95-8AC6-40E669CDE9C1}"/>
              </a:ext>
            </a:extLst>
          </p:cNvPr>
          <p:cNvSpPr>
            <a:spLocks noGrp="1"/>
          </p:cNvSpPr>
          <p:nvPr/>
        </p:nvSpPr>
        <p:spPr>
          <a:xfrm>
            <a:off x="6355080" y="2148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8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Desktop APP</a:t>
            </a:r>
            <a:endParaRPr sz="18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F692B5A-86E7-4D9C-B9C3-543C12CE23A2}"/>
              </a:ext>
            </a:extLst>
          </p:cNvPr>
          <p:cNvSpPr>
            <a:spLocks noGrp="1"/>
          </p:cNvSpPr>
          <p:nvPr/>
        </p:nvSpPr>
        <p:spPr>
          <a:xfrm>
            <a:off x="6309360" y="2606040"/>
            <a:ext cx="21945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sz="16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Codex/ChatGPT</a:t>
            </a:r>
            <a:endParaRPr sz="16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0EB2A4D-7060-419D-B5BC-8695A68A667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50EE7D89-39F1-4BF5-87F8-80888DE54485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2060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D20C5C-D346-4296-9F80-06D78A6233C6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D8A4A4-ED08-43EA-85D0-7A7C08391511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37DE24-EF28-42BC-AB09-BE4E612D40BF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398BBC-50E1-48EE-BA91-2554746DBB75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1AA460-39FC-4F0F-BBE2-505567302766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A94D9A-0BF6-493E-BA15-0304E554A5F0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1.2. 介绍 Codex Desktop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2E2DE0D-4E6A-4C97-9588-5DAFA32C8C94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6F27836-4FC2-4DE9-9485-140794994111}"/>
              </a:ext>
            </a:extLst>
          </p:cNvPr>
          <p:cNvSpPr>
            <a:spLocks noGrp="1"/>
          </p:cNvSpPr>
          <p:nvPr/>
        </p:nvSpPr>
        <p:spPr>
          <a:xfrm>
            <a:off x="822960" y="187452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1.2.1.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APP connector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4872D63-DE2B-49E9-BC21-51AA54C18D1D}"/>
              </a:ext>
            </a:extLst>
          </p:cNvPr>
          <p:cNvSpPr>
            <a:spLocks noGrp="1"/>
          </p:cNvSpPr>
          <p:nvPr/>
        </p:nvSpPr>
        <p:spPr>
          <a:xfrm>
            <a:off x="822960" y="244144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1.2.2.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Skills and MCP</a:t>
            </a:r>
            <a:endParaRPr sz="2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FA017A-72D0-47BA-9513-12B8DD680FBE}"/>
              </a:ext>
            </a:extLst>
          </p:cNvPr>
          <p:cNvSpPr>
            <a:spLocks noGrp="1"/>
          </p:cNvSpPr>
          <p:nvPr/>
        </p:nvSpPr>
        <p:spPr>
          <a:xfrm>
            <a:off x="822960" y="3008376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1.2.3.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配置文件 config.toml</a:t>
            </a:r>
            <a:endParaRPr sz="2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28003A-DA5B-47EB-88DF-A09F9535AABD}"/>
              </a:ext>
            </a:extLst>
          </p:cNvPr>
          <p:cNvSpPr>
            <a:spLocks noGrp="1"/>
          </p:cNvSpPr>
          <p:nvPr/>
        </p:nvSpPr>
        <p:spPr>
          <a:xfrm>
            <a:off x="822960" y="3575304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1.2.4.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上下文AGENTS.md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A77E147-0F8D-4A0D-B5DF-D109794DBAB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40D9D432-A96C-4263-BF75-01078A1FD8A3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49157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999CF6-C9C7-4326-8369-A1F8226E574A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C12263-3FB0-4FA5-8563-DFCEB3009EBE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E30CA-5BCE-472E-8195-999B4FBDBDF1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584337-DA7C-4213-8B32-FD764C1357A4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8D7E3E-6025-4E73-B7B7-D030C99FDC96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E2B97C-C6D4-42EC-9AB0-41DBA2FADCEF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1.2.1. APP connector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060929C-7391-4CE2-AD8D-1C0C0790B3D9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16DC22-6458-47A2-AB20-459DFD1CEF3D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/>
              <a:t>内嵌在 Codex 里面的工具插件</a:t>
            </a:r>
          </a:p>
          <a:p>
            <a:pPr marL="190500" indent="-190500">
              <a:spcAft>
                <a:spcPts val="1400"/>
              </a:spcAft>
              <a:buSzPct val="100000"/>
              <a:buFontTx/>
              <a:buChar char="•"/>
            </a:pPr>
            <a:r>
              <a:rPr sz="2000">
                <a:latin typeface="Microsoft YaHei"/>
                <a:ea typeface="Microsoft YaHei"/>
                <a:cs typeface="Microsoft YaHei"/>
              </a:rPr>
              <a:t>支持自动或手动调用</a:t>
            </a:r>
          </a:p>
          <a:p>
            <a:pPr marL="190500" indent="-190500">
              <a:spcAft>
                <a:spcPts val="1400"/>
              </a:spcAft>
              <a:buSzPct val="100000"/>
              <a:buFontTx/>
              <a:buChar char="•"/>
            </a:pPr>
            <a:r>
              <a:rPr sz="2000">
                <a:latin typeface="Microsoft YaHei"/>
                <a:ea typeface="Microsoft YaHei"/>
                <a:cs typeface="Microsoft YaHei"/>
              </a:rPr>
              <a:t>Zotero、GitHub、Undermind</a:t>
            </a:r>
          </a:p>
          <a:p>
            <a:pPr marL="190500" indent="-190500">
              <a:spcAft>
                <a:spcPts val="1400"/>
              </a:spcAft>
              <a:buSzPct val="100000"/>
              <a:buFontTx/>
              <a:buChar char="•"/>
            </a:pPr>
            <a:r>
              <a:rPr sz="2000">
                <a:latin typeface="Microsoft YaHei"/>
                <a:ea typeface="Microsoft YaHei"/>
                <a:cs typeface="Microsoft YaHei"/>
              </a:rPr>
              <a:t>Visualize、Documents、PDF</a:t>
            </a:r>
          </a:p>
          <a:p>
            <a:pPr marL="190500" indent="-190500">
              <a:spcAft>
                <a:spcPts val="1400"/>
              </a:spcAft>
              <a:buSzPct val="100000"/>
              <a:buFontTx/>
              <a:buChar char="•"/>
            </a:pPr>
            <a:r>
              <a:rPr sz="2000">
                <a:latin typeface="Microsoft YaHei"/>
                <a:ea typeface="Microsoft YaHei"/>
                <a:cs typeface="Microsoft YaHei"/>
              </a:rPr>
              <a:t>Spreadsheets、Presentations 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A6A4B21-2B59-443D-A9E1-211A2F18186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  <p:pic>
        <p:nvPicPr>
          <p:cNvPr id="37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608" y="2042335"/>
            <a:ext cx="3632808" cy="2096673"/>
          </a:xfrm>
          <a:prstGeom prst="rect">
            <a:avLst/>
          </a:prstGeom>
        </p:spPr>
      </p:pic>
      <p:sp>
        <p:nvSpPr>
          <p:cNvPr id="27" name="Section navigation 6 Discussion">
            <a:extLst>
              <a:ext uri="{FF2B5EF4-FFF2-40B4-BE49-F238E27FC236}">
                <a16:creationId xmlns:a16="http://schemas.microsoft.com/office/drawing/2014/main" id="{C439E26F-5CF6-437B-8C4F-14BBD3BC9468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92891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8DA3D1-B772-46DD-87DC-86127BDF3805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EF1082-A760-486C-8D9B-228D8E6D2375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FF192B-7501-463D-8A38-39A1145B46E1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E8A66B-03B9-4851-8601-5B54173FEF3F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BECCD1-579F-463B-BFFE-57BAD85BAEB3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B2555A-5267-4FC1-840B-D730BADACE4A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1.2.2. Skills and MCP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2B54833-79AD-43EC-A248-830852F40FC8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B711D6-6C5A-4744-84B7-E6163B57256F}"/>
              </a:ext>
            </a:extLst>
          </p:cNvPr>
          <p:cNvSpPr>
            <a:spLocks noGrp="1"/>
          </p:cNvSpPr>
          <p:nvPr/>
        </p:nvSpPr>
        <p:spPr>
          <a:xfrm>
            <a:off x="777240" y="1828799"/>
            <a:ext cx="7589520" cy="2704563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Skill: 一个目录，其中必须有 `SKILL.md` 文件，还可以包含代码脚本和参考资料。 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Skill 是工作说明书、可复用的工作流</a:t>
            </a:r>
          </a:p>
          <a:p>
            <a:pPr marL="190500" indent="-190500">
              <a:spcAft>
                <a:spcPts val="1400"/>
              </a:spcAft>
              <a:buSzPct val="100000"/>
              <a:buFontTx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User level skill: `~/.codex/skills`</a:t>
            </a:r>
            <a:endParaRPr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Project level skill: `/path/to/project/.codex/skills`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使用‘skill-installer’安装 skill，使用‘$’手动调用（示例）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00AB588-DDF8-4E2A-B281-E6A9264A286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BFB7DBD3-6556-45DE-83E7-8E331AB13DC4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87495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577DB8-C638-7FD1-FC0B-35EF0BD51C0C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0FFA40-187D-238A-6369-B6EA0ECC0F7E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65FBEA-A34D-4106-4497-4D7352314C9F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41BE80-A04F-7602-7550-CD9BDF758CDE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9FA197-F9F4-C110-F832-E0366D5ED545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03D7A2-69E1-A297-BA14-F28764A0104F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1.2.2. Skills and MCP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CFF51FA-AD36-1AF3-3AF6-5A7B31848829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2501972-6856-D5D6-6C84-5650AF06D51E}"/>
              </a:ext>
            </a:extLst>
          </p:cNvPr>
          <p:cNvSpPr>
            <a:spLocks noGrp="1"/>
          </p:cNvSpPr>
          <p:nvPr/>
        </p:nvSpPr>
        <p:spPr>
          <a:xfrm>
            <a:off x="777240" y="1828799"/>
            <a:ext cx="7589520" cy="2704563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MCP: 一种外接工具的协议，比如网络搜索工具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Context7 (查询版本匹配的软件 API 文档)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Playwright: 操作浏览器、前端开发测试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23E8685-3A9F-FD1A-9A71-540987F5B47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  <p:pic>
        <p:nvPicPr>
          <p:cNvPr id="37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3336407"/>
            <a:ext cx="4345354" cy="1110842"/>
          </a:xfrm>
          <a:prstGeom prst="rect">
            <a:avLst/>
          </a:prstGeom>
        </p:spPr>
      </p:pic>
      <p:sp>
        <p:nvSpPr>
          <p:cNvPr id="27" name="Section navigation 6 Discussion">
            <a:extLst>
              <a:ext uri="{FF2B5EF4-FFF2-40B4-BE49-F238E27FC236}">
                <a16:creationId xmlns:a16="http://schemas.microsoft.com/office/drawing/2014/main" id="{FFE17016-11F6-473F-BC30-8F7C79DD8A9E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844169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DB6310-4FB9-421E-9C03-8F7A5A427A4E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1175B3-FF03-4D7B-9A07-AFC6EDC61028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F69635-04EA-4373-8C6B-8249715526CE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E93946-024B-4674-8822-F37167E91759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D6B969-B5F8-450B-AC77-C95EEAA091AE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7A427D-1B13-48BD-AC72-42B4FC1D47C4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1.2.3. 配置文件 config.toml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BA25F14-D769-48D6-A0DC-DB8EA0D1ADB1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A383EB-5231-48B4-9F68-9C8E82C5E72D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管理模型、审批、沙箱、MCP、功能开关这些工具行为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User level: `~/.codex/config.toml`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Project level: ` /path/to/project/.codex/config.toml`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ED196D7-5F9F-432F-B418-C4B5043A08F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6444D0E0-D954-4B27-97E4-8F7BE66562BE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25769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CBB5B3-FC9C-0F22-1DA1-1B5238718570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6E21FE-1380-62B0-140F-1DE0AEC899BF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7FA198-8AA3-F581-72F3-82353E827319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B85043-22D7-412B-832B-D4C6DCCC40DB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F2DB25-BA47-DB8A-74FD-4677D485F403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583C2D-E78D-55A5-A641-E80B5D0FE67C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1.2.3. 配置文件 config.toml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1224163-3B82-803F-1243-0A37BCB50830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792D5B-CA24-6559-0DC5-1F4DB1F74F02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常用系统级配置项示例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APP内：Configuration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项目内model 配置的强制性 </a:t>
            </a:r>
          </a:p>
          <a:p>
            <a:pPr algn="l">
              <a:spcAft>
                <a:spcPts val="1400"/>
              </a:spcAft>
              <a:buSzPct val="100000"/>
              <a:buNone/>
            </a:pP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80CDAC1-5833-8273-5091-93D239B0EFC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  <p:pic>
        <p:nvPicPr>
          <p:cNvPr id="39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773" y="1622381"/>
            <a:ext cx="3677718" cy="2936581"/>
          </a:xfrm>
          <a:prstGeom prst="rect">
            <a:avLst/>
          </a:prstGeom>
        </p:spPr>
      </p:pic>
      <p:pic>
        <p:nvPicPr>
          <p:cNvPr id="40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118" y="3264303"/>
            <a:ext cx="1704794" cy="729494"/>
          </a:xfrm>
          <a:prstGeom prst="rect">
            <a:avLst/>
          </a:prstGeom>
        </p:spPr>
      </p:pic>
      <p:pic>
        <p:nvPicPr>
          <p:cNvPr id="41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118" y="4049025"/>
            <a:ext cx="2894970" cy="424517"/>
          </a:xfrm>
          <a:prstGeom prst="rect">
            <a:avLst/>
          </a:prstGeom>
        </p:spPr>
      </p:pic>
      <p:sp>
        <p:nvSpPr>
          <p:cNvPr id="29" name="Section navigation 6 Discussion">
            <a:extLst>
              <a:ext uri="{FF2B5EF4-FFF2-40B4-BE49-F238E27FC236}">
                <a16:creationId xmlns:a16="http://schemas.microsoft.com/office/drawing/2014/main" id="{59617EAE-4E13-47A9-9310-DA7C1D6225BC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624346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2F2FE4-78B2-45F2-BA50-FC96E61B056D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BC2436-0E63-46CF-80F8-C2A654D63B19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D1B24F-F691-4EDC-ADEE-FA80C037C847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BAFBC4-B0C3-4D7D-BA5E-CEED11FED122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0C9376-E026-43BB-BB5E-494B6A9018DF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D9424B-C683-4EF1-9DB7-E21037FD01EE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1.2.4. 上下文 AGENTS.md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E9B428A-0442-4118-B25C-511D2EF30480}"/>
              </a:ext>
            </a:extLst>
          </p:cNvPr>
          <p:cNvSpPr>
            <a:spLocks noGrp="1"/>
          </p:cNvSpPr>
          <p:nvPr/>
        </p:nvSpPr>
        <p:spPr>
          <a:xfrm>
            <a:off x="457200" y="1572767"/>
            <a:ext cx="8229600" cy="3235345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43929EC-B16D-4DC3-8774-E2B2D7702EE2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876282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管理上下文：Codex 在每轮执行前都会读取 AGENTS.md 文件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User level: `~/.codex/AGENTS.md` 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Project level: ` /path/to/project/AGENTS.md` 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User level AGENTS.md 示例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F457C27-9582-4C39-B9B0-1B4A8679B7F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62752B0F-1A6A-47E1-9914-BDAD54B05AD4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213223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BE06A6-5874-4C7F-B182-12A4D36801C0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C389E0-D2C1-4F6F-91D3-6D01B181EE72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D7F4B2-6EA5-4572-A321-862A9CA55DAB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AF8823-877D-4BB3-BE0B-1AE9BFB3C356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B1EA170-8510-46C4-968C-351CDA805056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7D6C0F-418A-4C58-B167-836423935B5D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3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D60605-CDB7-4AFD-B8AC-0FECA36591F3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854C5D-EAF9-48C7-BE5B-06882A1D39F7}"/>
              </a:ext>
            </a:extLst>
          </p:cNvPr>
          <p:cNvSpPr>
            <a:spLocks noGrp="1"/>
          </p:cNvSpPr>
          <p:nvPr/>
        </p:nvSpPr>
        <p:spPr>
          <a:xfrm>
            <a:off x="822960" y="1874520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2.1.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检索论文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AAFE44-E49C-4E6D-A464-BA9631D75116}"/>
              </a:ext>
            </a:extLst>
          </p:cNvPr>
          <p:cNvSpPr>
            <a:spLocks noGrp="1"/>
          </p:cNvSpPr>
          <p:nvPr/>
        </p:nvSpPr>
        <p:spPr>
          <a:xfrm>
            <a:off x="822960" y="2441448"/>
            <a:ext cx="7498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2.2.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Zotero 管理文献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38A5326-6B21-4148-BA5B-4724DB6AB47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CB4BA694-B899-4002-975B-B6BB8BA0D8D3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469196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004D35-55CC-45E3-87BC-4B763504D938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C8C799-6E13-46CB-819C-0FBFB0DAB3F6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CB61EE-16BA-4A53-97EE-7A8F746297F4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54FD8B-C70B-420E-9DE7-C52002068B85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827161-A1C0-4FA1-AC61-663C35644F8E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6EFB0F-675D-4477-99E1-7EC8E879A58A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2.1. 检索论文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3760070-43FC-4C2B-B0B7-34629E346B44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F29D47-9134-4B25-B538-2F735759B8F4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Codex/ChatGPT 不能作为检索文献的主力工具；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推荐方式：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手动搜索、筛选论文</a:t>
            </a:r>
          </a:p>
          <a:p>
            <a:pPr marL="647700" lvl="1" indent="-190500">
              <a:spcAft>
                <a:spcPts val="1400"/>
              </a:spcAft>
              <a:buSzPct val="100000"/>
              <a:buFontTx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给定明确主题，交给专用搜索工具（undermind）查找相关论文（示例）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谨慎对待，并不能覆盖全部论文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1272642-1D23-449D-A14B-A8BB50F037A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3E1C5E75-B1EA-49C6-A205-9FA63C0D0097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842873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CB7D70-52C9-46E7-89B5-7C6363BFA611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AABAA2-4E8F-42FD-B164-CDDED704150A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A2A821-AE91-4AE7-A53F-292051E53CCD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69B9A0-B4C1-4D29-9B48-E131C202394B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71AA2D-4707-45E6-92CB-9AB6F0559CD2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3E3274-D848-45F1-88B8-FAD58196EDF5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2.2. Zotero 管理文献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2CA7C1D-AD87-4D94-9BDF-585AFA2376A7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8EE712-5DC9-4CC1-A779-2CBBC1DD4C41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Codex 连接 Zotero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 Zotero 建立 collection 整理论文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 Codex 从 Zotero 读取特定论文（示例）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F6EB9CC-648B-4314-A2D8-A61F5AA698E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D7C82DA0-89FD-4672-88A8-7371E5F36426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437630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4CA115-3849-4289-B182-097CCF47D8ED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2B3757-B02C-4107-BF1F-CF595308E61F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567EED-7E27-4C2B-BEEB-8D6B2511B1C5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A8169D-1CAE-4D8E-8F8D-F4C6AD4CDD6A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6528CA-0E5E-45F3-A094-C8EE6339198D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8B7F2B7-2B96-4FF0-84BA-053DF511CE12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B492C83-1B60-4F2B-AC1C-59776BE5E34A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942E759-0D1B-47BC-AE27-901FC04CFF1D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需谨慎使用 AI 寻找 research idea，优先与老师、同门讨论，在确定明确的研究方向后，可与 AI 讨论技术细节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ARS (</a:t>
            </a: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hlinkClick r:id="rId3"/>
              </a:rPr>
              <a:t>https://github.com/Imbad0202/academic-research-skills-codex/tree/main</a:t>
            </a: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): ‘deep-research/socratic’ 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Good question (</a:t>
            </a: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hlinkClick r:id="rId4"/>
              </a:rPr>
              <a:t>https://github.com/Rimagination/good-question</a:t>
            </a: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) 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两个示例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77969C4-FDA6-43B0-9630-5742850B8F7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502CC8B4-FAA8-4653-953A-BF7720896376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475497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E1EED5-21DD-4529-A22C-1839C655B159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334792-656F-4707-AA8D-A2DE23F70077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9EDDAD-5378-4188-88E9-FDB79A18ED01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9BE719-20A5-40B1-9C68-53A1CF1775CF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396564C-FBE9-4F21-92C5-277DD6F6B130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4476CB-F945-4095-83F5-98C0F457B9A6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3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8FFBEE-A4AD-4A94-8EE8-9109350665B6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EC5146-6127-464F-B1EF-43AE23B03CE2}"/>
              </a:ext>
            </a:extLst>
          </p:cNvPr>
          <p:cNvSpPr>
            <a:spLocks noGrp="1"/>
          </p:cNvSpPr>
          <p:nvPr/>
        </p:nvSpPr>
        <p:spPr>
          <a:xfrm>
            <a:off x="822960" y="187452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4.1.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项目管理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FFFDEAF-444A-4646-B60D-ADB64B819293}"/>
              </a:ext>
            </a:extLst>
          </p:cNvPr>
          <p:cNvSpPr>
            <a:spLocks noGrp="1"/>
          </p:cNvSpPr>
          <p:nvPr/>
        </p:nvSpPr>
        <p:spPr>
          <a:xfrm>
            <a:off x="822960" y="244144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4.2.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文件结构</a:t>
            </a:r>
            <a:endParaRPr sz="20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3B14E0B-EE9E-4200-92D1-FF357761D3BD}"/>
              </a:ext>
            </a:extLst>
          </p:cNvPr>
          <p:cNvSpPr>
            <a:spLocks noGrp="1"/>
          </p:cNvSpPr>
          <p:nvPr/>
        </p:nvSpPr>
        <p:spPr>
          <a:xfrm>
            <a:off x="822960" y="3008376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4.3.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上下文管理</a:t>
            </a:r>
            <a:endParaRPr sz="2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9041501-743B-4771-A1A5-FA7B8A400794}"/>
              </a:ext>
            </a:extLst>
          </p:cNvPr>
          <p:cNvSpPr>
            <a:spLocks noGrp="1"/>
          </p:cNvSpPr>
          <p:nvPr/>
        </p:nvSpPr>
        <p:spPr>
          <a:xfrm>
            <a:off x="822960" y="3575304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4.4.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代码规范</a:t>
            </a:r>
            <a:endParaRPr sz="2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817821-ADB8-428E-A02F-537570DD0033}"/>
              </a:ext>
            </a:extLst>
          </p:cNvPr>
          <p:cNvSpPr>
            <a:spLocks noGrp="1"/>
          </p:cNvSpPr>
          <p:nvPr/>
        </p:nvSpPr>
        <p:spPr>
          <a:xfrm>
            <a:off x="4846320" y="187452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4.5.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数据管理</a:t>
            </a:r>
            <a:endParaRPr sz="2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AD78A7-9904-43B2-BCE5-9BE11BBB38F3}"/>
              </a:ext>
            </a:extLst>
          </p:cNvPr>
          <p:cNvSpPr>
            <a:spLocks noGrp="1"/>
          </p:cNvSpPr>
          <p:nvPr/>
        </p:nvSpPr>
        <p:spPr>
          <a:xfrm>
            <a:off x="4846320" y="244144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4.6.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编程 Skill</a:t>
            </a:r>
            <a:endParaRPr sz="2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8736E12-B4F2-49DB-82B0-222665E68B6D}"/>
              </a:ext>
            </a:extLst>
          </p:cNvPr>
          <p:cNvSpPr>
            <a:spLocks noGrp="1"/>
          </p:cNvSpPr>
          <p:nvPr/>
        </p:nvSpPr>
        <p:spPr>
          <a:xfrm>
            <a:off x="4846320" y="3008376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4.7. </a:t>
            </a:r>
            <a:r>
              <a:rPr sz="200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多任务并行开发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FAAF92F-CF04-48B0-91C3-BC09258E9F1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17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1746408C-B66F-4C38-9D4C-6E5725BFDAAE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1119376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A056BF-0A7F-4540-B664-0F8A7E6FC510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DAEE38-EA83-43F7-ACBE-835F00572C58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E897A6-C93C-4315-A7A5-B82D86D2EFC7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343976-F3EC-4A9C-8A08-C79093B45CE4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F7AA16-AB9E-4378-92DE-855CA8D970B9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1D77FB-77EF-4F54-A554-541EE520B35F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4.1. 项目管理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B32133B-3393-40C0-8DE1-C61A9FB632A4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35AF07-1F60-4A75-896E-1A653539772F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3159252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一个项目对应一个文件夹，在该文件夹内进行所有工作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 uv (</a:t>
            </a: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hlinkClick r:id="rId3"/>
              </a:rPr>
              <a:t>https://uv.oaix.tech</a:t>
            </a: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) 管理 python开发环境，掌握 ’init/sync/add/source’ 即可（新目录操作示例）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维护 pyproject.toml 文件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 git 管理项目变动和版本 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维护.gitignore 文件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0C719B3-A7A6-452A-A1F8-A84C6BBCBE0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18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0F692051-4263-4B95-B622-9A98E0D0588C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9844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90D740-842E-4358-95C6-94EF2CF3A951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40675F-927D-449E-8A94-52247C66FF1F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4D94C4-90BB-4B57-A886-C3BCEA6C88F2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1382F5-F71E-485F-B71F-C0EE23F9D63B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F25A76-0228-4B1D-8280-39BABA178F5C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30A4C8-9D32-40E6-A69A-5A76A98C73F7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4.2. 文件结构</a:t>
            </a:r>
            <a:endParaRPr sz="2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FF8CCF-A521-4832-B538-A5A49F41752F}"/>
              </a:ext>
            </a:extLst>
          </p:cNvPr>
          <p:cNvSpPr>
            <a:spLocks noGrp="1"/>
          </p:cNvSpPr>
          <p:nvPr/>
        </p:nvSpPr>
        <p:spPr>
          <a:xfrm>
            <a:off x="738603" y="1107578"/>
            <a:ext cx="4288450" cy="3734878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 AEB 项目为示例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 feature workflow 为基本单位，以模块化的方式管理、开发，划定功能边界，减少模块间的耦合依赖，易于拓展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 src/web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 test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script: 工作流运行入口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配置 config 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91BB4D1-A80A-447F-957B-D8FE39F3B5E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19</a:t>
            </a:fld>
            <a:endParaRPr/>
          </a:p>
        </p:txBody>
      </p:sp>
      <p:pic>
        <p:nvPicPr>
          <p:cNvPr id="36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884" y="767430"/>
            <a:ext cx="2590859" cy="4075026"/>
          </a:xfrm>
          <a:prstGeom prst="rect">
            <a:avLst/>
          </a:prstGeom>
        </p:spPr>
      </p:pic>
      <p:sp>
        <p:nvSpPr>
          <p:cNvPr id="27" name="Section navigation 6 Discussion">
            <a:extLst>
              <a:ext uri="{FF2B5EF4-FFF2-40B4-BE49-F238E27FC236}">
                <a16:creationId xmlns:a16="http://schemas.microsoft.com/office/drawing/2014/main" id="{DB51E2E7-1773-455F-A67F-C7A2760498C4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86559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81FD55-A1BF-44EB-8E99-9DECD20BDEFA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3FAC15-DE72-4DAD-9404-12D4EF8BE9DF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996478-3EEB-4FDE-A897-C0CC1E1884DB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B65D4D-4BE9-404E-9A28-9FBDD0F1D56E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39B32E-F181-452D-BD5B-DB5262EC7524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5A9A47-0981-4BCD-87E1-79C06C521BCC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4.3. 上下文管理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6B0F68-B8A0-4534-96CC-4307C17414C9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8077552-2902-41CD-AB74-BD4041B140BD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项目内AGENTS.md 文件写作原则：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尽量简洁：可包含项目背景、工作规则、工具规范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渐进式披露：map, references 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48775C9-B2F1-4120-A935-57B5AD844EC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20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DC39EC39-E989-435C-9D4E-937F724952CA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1444126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A45C31-79AD-4257-8C00-471939A3CB3E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75001F-2116-46ED-B8AB-7D909B4E251D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0D8139-5588-49D8-8E1E-D971A63086D7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B49B75-BA2A-4859-921B-BDA5084BEA20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44B607-B9E6-4DB9-9D46-B22DE9F189D0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8921C3-D862-42E0-9346-4FC3D969FF96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4.4. 代码规范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99418C-212D-4963-9D69-EF431190D123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B1E1C2-8CC3-4999-B0E9-BB2F514A998B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 AI 写的代码可测试、更规范，避免非功能性错误</a:t>
            </a:r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实践经验：my coding practices</a:t>
            </a:r>
            <a:endParaRPr sz="200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pytest、ruff、mypy 工具及其配置方式</a:t>
            </a:r>
          </a:p>
          <a:p>
            <a:pPr marL="190500" indent="-190500">
              <a:spcAft>
                <a:spcPts val="1400"/>
              </a:spcAft>
              <a:buSzPct val="100000"/>
              <a:buFontTx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INIT.sh 文件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CCA4704-4C29-434D-91F2-B9FB5F38C44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21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1E5A1288-9187-4D5B-9FE3-75FF61E441A2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1147453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E9F46F-0E96-4048-8F77-129D8E479B60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FD99AF-7E19-417D-A175-4CCA40EBBBB0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384131-BA3B-40B6-BD3E-227DD5DADC3F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105164-9C18-4DD9-B664-7F69C7B7B66A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5EEB84-2B7C-41D3-AD15-37CD819E8722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49C8953-0957-4254-9D45-EB8DEED6B679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4.5. 数据管理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50B75D2-FB24-49BE-8B9D-805609F508BB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779F1C-495C-458E-959F-2AB18FDD48F2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设置权限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: `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sudo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chmod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–R 555 data`，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可读、可执行、不可写</a:t>
            </a:r>
            <a:endParaRPr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AGENTS.md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指明数据路径</a:t>
            </a:r>
            <a:endParaRPr lang="en-US"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Microsoft YaHei"/>
                <a:ea typeface="Microsoft YaHei"/>
              </a:rPr>
              <a:t>大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</a:rPr>
              <a:t>体积</a:t>
            </a:r>
            <a:r>
              <a:rPr lang="en-US" sz="2000" dirty="0" err="1">
                <a:solidFill>
                  <a:srgbClr val="000000"/>
                </a:solidFill>
                <a:latin typeface="Microsoft YaHei"/>
                <a:ea typeface="Microsoft YaHei"/>
              </a:rPr>
              <a:t>数据不上传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</a:rPr>
              <a:t>git/web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4F32AA1-F7ED-4CE2-A715-F400BB4DBDE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22</a:t>
            </a:fld>
            <a:endParaRPr/>
          </a:p>
        </p:txBody>
      </p:sp>
      <p:pic>
        <p:nvPicPr>
          <p:cNvPr id="37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813" y="3318564"/>
            <a:ext cx="5067300" cy="1104900"/>
          </a:xfrm>
          <a:prstGeom prst="rect">
            <a:avLst/>
          </a:prstGeom>
        </p:spPr>
      </p:pic>
      <p:sp>
        <p:nvSpPr>
          <p:cNvPr id="27" name="Section navigation 6 Discussion">
            <a:extLst>
              <a:ext uri="{FF2B5EF4-FFF2-40B4-BE49-F238E27FC236}">
                <a16:creationId xmlns:a16="http://schemas.microsoft.com/office/drawing/2014/main" id="{92741825-DCB3-49BF-BC1B-7834AE28A418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1474509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687520-74F8-4347-B29C-AB05EDE09ECB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DA7ACD-D009-4CA4-A699-C78299B12236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1F09DF-3D5C-441D-8CC9-94847AF015AA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C4432D-A213-4F28-BDC8-F365FDCD15DE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A5CD64-69C0-49BC-9EB7-C6695D170C71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C008EF-FE47-4EA3-9735-026C2D762D35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48707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4.6. </a:t>
            </a:r>
            <a:r>
              <a:rPr sz="2600" b="1" dirty="0" err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编程</a:t>
            </a:r>
            <a:r>
              <a:rPr sz="26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 Skill</a:t>
            </a:r>
            <a:r>
              <a:rPr lang="zh-CN" altLang="en-US" sz="26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6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26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三个示例</a:t>
            </a:r>
            <a:r>
              <a:rPr lang="en-US" altLang="zh-CN" sz="2600" b="1" dirty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40C4AA3-1C75-4EFC-986B-812B4256735C}"/>
              </a:ext>
            </a:extLst>
          </p:cNvPr>
          <p:cNvSpPr>
            <a:spLocks noGrp="1"/>
          </p:cNvSpPr>
          <p:nvPr/>
        </p:nvSpPr>
        <p:spPr>
          <a:xfrm>
            <a:off x="457200" y="1197735"/>
            <a:ext cx="8229600" cy="3395127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E05984-1EBC-4355-8102-41E9869E5E88}"/>
              </a:ext>
            </a:extLst>
          </p:cNvPr>
          <p:cNvSpPr>
            <a:spLocks noGrp="1"/>
          </p:cNvSpPr>
          <p:nvPr/>
        </p:nvSpPr>
        <p:spPr>
          <a:xfrm>
            <a:off x="762000" y="1287884"/>
            <a:ext cx="7589520" cy="2914921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Matt skills (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hlinkClick r:id="rId3"/>
              </a:rPr>
              <a:t>https://github.com/mattpocock/skills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grill-me, grill-with-docs, implement</a:t>
            </a:r>
            <a:r>
              <a:rPr 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, Test-Driven-Development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/plan （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Sol/Astra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max/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xhigh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20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goal：面向长时间任务，设置可验证的目标，围绕目标持续执行‘检查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修改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测试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再检查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继续迭代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’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简单任务用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prompt，复杂任务先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plan，需要持续迭代、验证的任务用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goal 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64CE795-C79A-463E-8B4C-FE7741A1B5E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23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D650FE6D-6C14-42F8-A089-37CB0956724B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52414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F5FB8E-E550-4347-9E77-1DEB4FDA3C9D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559DF0-8862-42EF-AB8D-F9911B8F8409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07929D-604A-458A-B33B-B1B22D396425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F758F7-9675-4AD4-850B-2F5267F99142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7B1744-1760-4B0A-B5A7-99B2A7583E28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CD84B0-7D3B-4D69-B875-2AAB59CE8700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4.7. 多任务并行开发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D718A9D-C046-4173-9649-DFC4B15D3AE9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8229600" cy="3035808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26CC2C-E3AF-4F0E-A530-EBE031CE424E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7589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branch、worktree</a:t>
            </a:r>
            <a:endParaRPr sz="2000"/>
          </a:p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worktree 同步工具</a:t>
            </a:r>
            <a:endParaRPr sz="2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CCB7663-B80C-4003-B191-11DB3CD078D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24</a:t>
            </a:fld>
            <a:endParaRPr/>
          </a:p>
        </p:txBody>
      </p:sp>
      <p:pic>
        <p:nvPicPr>
          <p:cNvPr id="37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396" y="1735093"/>
            <a:ext cx="4895045" cy="2754926"/>
          </a:xfrm>
          <a:prstGeom prst="rect">
            <a:avLst/>
          </a:prstGeom>
        </p:spPr>
      </p:pic>
      <p:sp>
        <p:nvSpPr>
          <p:cNvPr id="27" name="Section navigation 6 Discussion">
            <a:extLst>
              <a:ext uri="{FF2B5EF4-FFF2-40B4-BE49-F238E27FC236}">
                <a16:creationId xmlns:a16="http://schemas.microsoft.com/office/drawing/2014/main" id="{FCF93BBE-3B2B-4A73-986F-C4E135928362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2010252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850A7B-5DEC-4873-B700-779BDF893F47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592A99-8CE7-4DEB-984E-F994BF184049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E38548-1D3E-45A9-B8B1-C740BC606A03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EF1504-A4B1-4B3A-9B18-A0B38A9DF3F5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AE7165-4ECF-4C5D-A12E-2684C58A3BA3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D800EC-95E3-415D-A300-2D8FA9F01ACC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24E8E6E-307D-46A7-9F77-974E68AF28CE}"/>
              </a:ext>
            </a:extLst>
          </p:cNvPr>
          <p:cNvSpPr>
            <a:spLocks noGrp="1"/>
          </p:cNvSpPr>
          <p:nvPr/>
        </p:nvSpPr>
        <p:spPr>
          <a:xfrm>
            <a:off x="457200" y="1263671"/>
            <a:ext cx="8229600" cy="3278277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EA38F9-999A-4059-B851-0D3D3B95D5F5}"/>
              </a:ext>
            </a:extLst>
          </p:cNvPr>
          <p:cNvSpPr>
            <a:spLocks noGrp="1"/>
          </p:cNvSpPr>
          <p:nvPr/>
        </p:nvSpPr>
        <p:spPr>
          <a:xfrm>
            <a:off x="777240" y="1519703"/>
            <a:ext cx="7589520" cy="2949265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spcAft>
                <a:spcPts val="1400"/>
              </a:spcAft>
              <a:buSzPct val="100000"/>
              <a:buChar char="•"/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建议使用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Latex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写作，方便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AI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读取、修改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（模板示例）</a:t>
            </a:r>
            <a:endParaRPr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润色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: 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Humanizer (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hlinkClick r:id="rId3"/>
              </a:rPr>
              <a:t>https://github.com/blader/humanizer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) 、</a:t>
            </a:r>
          </a:p>
          <a:p>
            <a:pPr marL="647700" lvl="1" indent="-190500">
              <a:spcAft>
                <a:spcPts val="1400"/>
              </a:spcAft>
              <a:buSzPct val="100000"/>
              <a:buChar char="•"/>
            </a:pP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Grammar Check Guide (https://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github.com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wentorai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/research-plugins/tree/main/skills/writing/polish)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画图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Nature Figure (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hlinkClick r:id="rId4"/>
              </a:rPr>
              <a:t>https://github.com/Yuan1z0825/nature-skills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)</a:t>
            </a:r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做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PPT： 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hlinkClick r:id="rId5"/>
              </a:rPr>
              <a:t>https://github.com/Gabberflast/academic-pptx-skill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16CCF78-FA09-4452-8DE6-7F3A1DAD6B9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25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222ED6C3-765F-4224-9BF3-9CAF25668CE2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578102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850A7B-5DEC-4873-B700-779BDF893F47}"/>
              </a:ext>
            </a:extLst>
          </p:cNvPr>
          <p:cNvSpPr>
            <a:spLocks noGrp="1"/>
          </p:cNvSpPr>
          <p:nvPr/>
        </p:nvSpPr>
        <p:spPr>
          <a:xfrm>
            <a:off x="0" y="155448"/>
            <a:ext cx="15240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  <a:def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1. AI工具介绍</a:t>
            </a:r>
            <a:endParaRPr sz="1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592A99-8CE7-4DEB-984E-F994BF184049}"/>
              </a:ext>
            </a:extLst>
          </p:cNvPr>
          <p:cNvSpPr>
            <a:spLocks noGrp="1"/>
          </p:cNvSpPr>
          <p:nvPr/>
        </p:nvSpPr>
        <p:spPr>
          <a:xfrm>
            <a:off x="1524000" y="155448"/>
            <a:ext cx="15240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  <a:def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2. 文献管理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E38548-1D3E-45A9-B8B1-C740BC606A03}"/>
              </a:ext>
            </a:extLst>
          </p:cNvPr>
          <p:cNvSpPr>
            <a:spLocks noGrp="1"/>
          </p:cNvSpPr>
          <p:nvPr/>
        </p:nvSpPr>
        <p:spPr>
          <a:xfrm>
            <a:off x="3048000" y="155448"/>
            <a:ext cx="15240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  <a:def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3. 找 idea</a:t>
            </a:r>
            <a:endParaRPr sz="1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EF1504-A4B1-4B3A-9B18-A0B38A9DF3F5}"/>
              </a:ext>
            </a:extLst>
          </p:cNvPr>
          <p:cNvSpPr>
            <a:spLocks noGrp="1"/>
          </p:cNvSpPr>
          <p:nvPr/>
        </p:nvSpPr>
        <p:spPr>
          <a:xfrm>
            <a:off x="4572000" y="155448"/>
            <a:ext cx="15240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  <a:def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4. AI编程</a:t>
            </a:r>
            <a:endParaRPr sz="1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AE7165-4ECF-4C5D-A12E-2684C58A3BA3}"/>
              </a:ext>
            </a:extLst>
          </p:cNvPr>
          <p:cNvSpPr>
            <a:spLocks noGrp="1"/>
          </p:cNvSpPr>
          <p:nvPr/>
        </p:nvSpPr>
        <p:spPr>
          <a:xfrm>
            <a:off x="6096000" y="155448"/>
            <a:ext cx="152400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  <a:def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E7A87"/>
                </a:solidFill>
                <a:latin typeface="Microsoft YaHei"/>
                <a:ea typeface="Microsoft YaHei"/>
                <a:cs typeface="Microsoft YaHei"/>
              </a:rPr>
              <a:t>5. 写作与绘图</a:t>
            </a:r>
            <a:endParaRPr sz="1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D800EC-95E3-415D-A300-2D8FA9F01ACC}"/>
              </a:ext>
            </a:extLst>
          </p:cNvPr>
          <p:cNvSpPr>
            <a:spLocks noGrp="1"/>
          </p:cNvSpPr>
          <p:nvPr/>
        </p:nvSpPr>
        <p:spPr>
          <a:xfrm>
            <a:off x="457200" y="530352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6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6. 讨论</a:t>
            </a:r>
            <a:endParaRPr sz="26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24E8E6E-307D-46A7-9F77-974E68AF28CE}"/>
              </a:ext>
            </a:extLst>
          </p:cNvPr>
          <p:cNvSpPr>
            <a:spLocks noGrp="1"/>
          </p:cNvSpPr>
          <p:nvPr/>
        </p:nvSpPr>
        <p:spPr>
          <a:xfrm>
            <a:off x="457200" y="1263671"/>
            <a:ext cx="8229600" cy="3278277"/>
          </a:xfrm>
          <a:prstGeom prst="roundRect">
            <a:avLst>
              <a:gd name="adj" fmla="val 1205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CEA38F9-999A-4059-B851-0D3D3B95D5F5}"/>
              </a:ext>
            </a:extLst>
          </p:cNvPr>
          <p:cNvSpPr>
            <a:spLocks noGrp="1"/>
          </p:cNvSpPr>
          <p:nvPr/>
        </p:nvSpPr>
        <p:spPr>
          <a:xfrm>
            <a:off x="777240" y="1519703"/>
            <a:ext cx="7589520" cy="29492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190500" indent="-190500" algn="l">
              <a:spcAft>
                <a:spcPts val="800"/>
              </a:spcAft>
              <a:buChar char="•"/>
              <a:def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论文的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‘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味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’太重</a:t>
            </a:r>
            <a:endParaRPr lang="en-US"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90500" indent="-190500" algn="l">
              <a:spcAft>
                <a:spcPts val="800"/>
              </a:spcAft>
              <a:buChar char="•"/>
              <a:def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虚构文献</a:t>
            </a:r>
            <a:endParaRPr lang="en-US"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90500" indent="-190500">
              <a:spcAft>
                <a:spcPts val="800"/>
              </a:spcAft>
              <a:buFontTx/>
              <a:buChar char="•"/>
              <a:def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无需修改的问题被重复纠错（检查</a:t>
            </a:r>
            <a:r>
              <a:rPr lang="en-GB" altLang="zh-CN"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AGENTS.md</a:t>
            </a:r>
            <a:r>
              <a:rPr lang="zh-CN" altLang="en-GB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lang="en-US"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90500" indent="-190500">
              <a:spcAft>
                <a:spcPts val="800"/>
              </a:spcAft>
              <a:buFontTx/>
              <a:buChar char="•"/>
              <a:def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GB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不会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s</a:t>
            </a:r>
            <a:r>
              <a:rPr lang="en-GB" altLang="zh-CN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kills / plugins</a:t>
            </a:r>
            <a:r>
              <a:rPr lang="zh-CN" altLang="en-GB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如何操作、何时使用</a:t>
            </a:r>
            <a:endParaRPr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90500" indent="-190500" algn="l">
              <a:spcAft>
                <a:spcPts val="800"/>
              </a:spcAft>
              <a:buChar char="•"/>
              <a:def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大数据如何交给</a:t>
            </a:r>
            <a:r>
              <a:rPr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AI</a:t>
            </a:r>
          </a:p>
          <a:p>
            <a:pPr marL="190500" indent="-190500" algn="l">
              <a:spcAft>
                <a:spcPts val="800"/>
              </a:spcAft>
              <a:buChar char="•"/>
              <a:def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不会用 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写代码、不会调试 </a:t>
            </a:r>
            <a:r>
              <a:rPr lang="en-US" altLang="zh-CN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代码、代码报错</a:t>
            </a:r>
            <a:endParaRPr lang="en-US" altLang="zh-CN"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marL="190500" indent="-190500" algn="l">
              <a:spcAft>
                <a:spcPts val="800"/>
              </a:spcAft>
              <a:buChar char="•"/>
              <a:defRPr sz="2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endParaRPr sz="200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16CCF78-FA09-4452-8DE6-7F3A1DAD6B9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863840" y="4773168"/>
            <a:ext cx="822960" cy="256032"/>
          </a:xfrm>
          <a:prstGeom prst="rect">
            <a:avLst/>
          </a:prstGeom>
        </p:spPr>
        <p:txBody>
          <a:bodyPr lIns="0" tIns="0" rIns="0" bIns="0" anchor="ctr"/>
          <a:lstStyle>
            <a:lvl1pPr>
              <a:buNone/>
              <a:defRPr sz="110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>
              <a:buNone/>
            </a:pPr>
            <a:fld id="{5AB55966-FA28-BC73-EA9E-53DF014DF033}" type="slidenum">
              <a:rPr b="0"/>
              <a:t>26</a:t>
            </a:fld>
            <a:endParaRPr/>
          </a:p>
        </p:txBody>
      </p:sp>
      <p:sp>
        <p:nvSpPr>
          <p:cNvPr id="26" name="Section navigation 6 Discussion">
            <a:extLst>
              <a:ext uri="{FF2B5EF4-FFF2-40B4-BE49-F238E27FC236}">
                <a16:creationId xmlns:a16="http://schemas.microsoft.com/office/drawing/2014/main" id="{191255F4-7BE3-4E3F-A4A2-35EF0F55F2C8}"/>
              </a:ext>
            </a:extLst>
          </p:cNvPr>
          <p:cNvSpPr>
            <a:spLocks noGrp="1"/>
          </p:cNvSpPr>
          <p:nvPr/>
        </p:nvSpPr>
        <p:spPr>
          <a:xfrm>
            <a:off x="7620000" y="155448"/>
            <a:ext cx="15240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6. 讨论</a:t>
            </a:r>
          </a:p>
        </p:txBody>
      </p:sp>
    </p:spTree>
    <p:extLst>
      <p:ext uri="{BB962C8B-B14F-4D97-AF65-F5344CB8AC3E}">
        <p14:creationId xmlns:p14="http://schemas.microsoft.com/office/powerpoint/2010/main" val="578102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3BEF29-0B10-4EDD-B67D-EBBA64903BB4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4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sz="40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52B1E1C-1C46-440B-8407-04819F219099}"/>
              </a:ext>
            </a:extLst>
          </p:cNvPr>
          <p:cNvSpPr>
            <a:spLocks noGrp="1"/>
          </p:cNvSpPr>
          <p:nvPr/>
        </p:nvSpPr>
        <p:spPr>
          <a:xfrm>
            <a:off x="640080" y="2514600"/>
            <a:ext cx="18288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924A41-8BD1-438E-935F-3AE651217EB3}"/>
              </a:ext>
            </a:extLst>
          </p:cNvPr>
          <p:cNvSpPr>
            <a:spLocks noGrp="1"/>
          </p:cNvSpPr>
          <p:nvPr/>
        </p:nvSpPr>
        <p:spPr>
          <a:xfrm>
            <a:off x="640080" y="2811781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dirty="0" err="1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欢迎交流</a:t>
            </a:r>
            <a:r>
              <a:rPr sz="2000" dirty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　·　</a:t>
            </a:r>
            <a:r>
              <a:rPr sz="2000" dirty="0" err="1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欢迎讨论</a:t>
            </a:r>
            <a:endParaRPr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4FD42D7-45B0-CB26-D9A4-04E6BD6DA430}"/>
              </a:ext>
            </a:extLst>
          </p:cNvPr>
          <p:cNvSpPr>
            <a:spLocks noGrp="1"/>
          </p:cNvSpPr>
          <p:nvPr/>
        </p:nvSpPr>
        <p:spPr>
          <a:xfrm>
            <a:off x="640080" y="342900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zh-CN" altLang="en-US" sz="2000" dirty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资料链接：</a:t>
            </a:r>
            <a:r>
              <a:rPr lang="en-GB" altLang="zh-CN" sz="2000" dirty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  <a:hlinkClick r:id="rId3"/>
              </a:rPr>
              <a:t>https://github.com/sicilyala/ai_sharing</a:t>
            </a:r>
            <a:r>
              <a:rPr lang="zh-CN" altLang="en-US" sz="2000" dirty="0">
                <a:solidFill>
                  <a:srgbClr val="2D2D2D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81037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2355</Words>
  <Application>Microsoft Macintosh PowerPoint</Application>
  <DocSecurity>0</DocSecurity>
  <PresentationFormat>全屏显示(16:9)</PresentationFormat>
  <Paragraphs>332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Microsoft YaHei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Weiqi</cp:lastModifiedBy>
  <cp:revision>14</cp:revision>
  <dcterms:created xsi:type="dcterms:W3CDTF">2026-09-27T07:17:33Z</dcterms:created>
  <dcterms:modified xsi:type="dcterms:W3CDTF">2026-09-27T08:31:00Z</dcterms:modified>
</cp:coreProperties>
</file>